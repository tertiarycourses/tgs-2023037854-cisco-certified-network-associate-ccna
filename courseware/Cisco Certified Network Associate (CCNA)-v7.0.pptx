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 weighting (%)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1F6FEB"/>
              </a:solidFill>
            </c:spPr>
          </c:dPt>
          <c:dPt>
            <c:idx val="3"/>
            <c:spPr>
              <a:solidFill>
                <a:srgbClr val="1F6FEB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dPt>
            <c:idx val="5"/>
            <c:spPr>
              <a:solidFill>
                <a:srgbClr val="1F6FEB"/>
              </a:solidFill>
            </c:spPr>
          </c:dPt>
          <c:cat>
            <c:strRef>
              <c:f>Sheet1!$A$2:$A$7</c:f>
              <c:strCache>
                <c:ptCount val="6"/>
                <c:pt idx="0">
                  <c:v>Fundamentals</c:v>
                </c:pt>
                <c:pt idx="1">
                  <c:v>Access</c:v>
                </c:pt>
                <c:pt idx="2">
                  <c:v>IP routing</c:v>
                </c:pt>
                <c:pt idx="3">
                  <c:v>IP services</c:v>
                </c:pt>
                <c:pt idx="4">
                  <c:v>Security</c:v>
                </c:pt>
                <c:pt idx="5">
                  <c:v>Automation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25</c:v>
                </c:pt>
                <c:pt idx="3">
                  <c:v>10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Usable hosts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1F6FEB"/>
              </a:solidFill>
            </c:spPr>
          </c:dPt>
          <c:cat>
            <c:strRef>
              <c:f>Sheet1!$A$2:$A$4</c:f>
              <c:strCache>
                <c:ptCount val="3"/>
                <c:pt idx="0">
                  <c:v>60-host demand</c:v>
                </c:pt>
                <c:pt idx="1">
                  <c:v>28-host demand</c:v>
                </c:pt>
                <c:pt idx="2">
                  <c:v>12-host demand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30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Subnet count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1F6FEB"/>
              </a:solidFill>
            </c:spPr>
          </c:dPt>
          <c:cat>
            <c:strRef>
              <c:f>Sheet1!$A$2:$A$4</c:f>
              <c:strCache>
                <c:ptCount val="3"/>
                <c:pt idx="0">
                  <c:v>/26 available</c:v>
                </c:pt>
                <c:pt idx="1">
                  <c:v>Required VLANs</c:v>
                </c:pt>
                <c:pt idx="2">
                  <c:v>/27 available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Watts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cat>
            <c:strRef>
              <c:f>Sheet1!$A$2:$A$3</c:f>
              <c:strCache>
                <c:ptCount val="2"/>
                <c:pt idx="0">
                  <c:v>8 APs required</c:v>
                </c:pt>
                <c:pt idx="1">
                  <c:v>Switch budget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123.2</c:v>
                </c:pt>
                <c:pt idx="1">
                  <c:v>120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OSPF cost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1F6FEB"/>
              </a:solidFill>
            </c:spPr>
          </c:dPt>
          <c:dPt>
            <c:idx val="3"/>
            <c:spPr>
              <a:solidFill>
                <a:srgbClr val="1F6FEB"/>
              </a:solidFill>
            </c:spPr>
          </c:dPt>
          <c:cat>
            <c:strRef>
              <c:f>Sheet1!$A$2:$A$5</c:f>
              <c:strCache>
                <c:ptCount val="4"/>
                <c:pt idx="0">
                  <c:v>10 Mb/s</c:v>
                </c:pt>
                <c:pt idx="1">
                  <c:v>100 Mb/s</c:v>
                </c:pt>
                <c:pt idx="2">
                  <c:v>1 Gb/s</c:v>
                </c:pt>
                <c:pt idx="3">
                  <c:v>10 Gb/s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 weighting (%)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1F6FEB"/>
              </a:solidFill>
            </c:spPr>
          </c:dPt>
          <c:dPt>
            <c:idx val="2"/>
            <c:spPr>
              <a:solidFill>
                <a:srgbClr val="1F6FEB"/>
              </a:solidFill>
            </c:spPr>
          </c:dPt>
          <c:dPt>
            <c:idx val="3"/>
            <c:spPr>
              <a:solidFill>
                <a:srgbClr val="1F6FEB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Infrastructure</c:v>
                </c:pt>
                <c:pt idx="1">
                  <c:v>Switch/access</c:v>
                </c:pt>
                <c:pt idx="2">
                  <c:v>IP routing</c:v>
                </c:pt>
                <c:pt idx="3">
                  <c:v>Services/security</c:v>
                </c:pt>
                <c:pt idx="4">
                  <c:v>AI/operations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· TGS-2023037854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Cisco Certified Network Associate (CCNA)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10" name="Picture 9" descr="network-rack-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874519"/>
            <a:ext cx="4709160" cy="3139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057400"/>
            <a:ext cx="548640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F6FEB"/>
                </a:solidFill>
                <a:latin typeface="Arial"/>
              </a:rPr>
              <a:t>Implement, diagnose and verify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F6FEB"/>
                </a:solidFill>
                <a:latin typeface="Arial"/>
              </a:rPr>
              <a:t>IPv4/IPv6 enterprise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394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5 days · 40 hours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38 training + 2 assessment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Current exam v1.1 · announced v2.0 transition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9327" y="5257800"/>
            <a:ext cx="1188720" cy="548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5340096"/>
            <a:ext cx="1115568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CCNA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93208"/>
            <a:ext cx="539496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UEN: 201200696W · Version 7.0 ·13 September 2026</a:t>
            </a:r>
          </a:p>
        </p:txBody>
      </p:sp>
      <p:pic>
        <p:nvPicPr>
          <p:cNvPr id="16" name="Picture 1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60720"/>
            <a:ext cx="566928" cy="566928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Digital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QR code or attendance link issued on the LMS. Digital attendance and TRAQOM feedback are separate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TRAQOM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TRAQOM measures training quality and outcomes through feedback surveys. Complete the survey using the provider-issued link.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Complete assessment digital attendance at the scheduled assessment block.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· general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Trainer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[Trainer name]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[Role and organisation]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[Cisco credentials]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[Routing/switching projects]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[Operational experience]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Delivery /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[Contact details]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[Availability]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[Class support arrangements]</a:t>
            </a:r>
          </a:p>
        </p:txBody>
      </p:sp>
      <p:sp>
        <p:nvSpPr>
          <p:cNvPr id="22" name="Oval 21"/>
          <p:cNvSpPr/>
          <p:nvPr/>
        </p:nvSpPr>
        <p:spPr>
          <a:xfrm>
            <a:off x="10817352" y="438912"/>
            <a:ext cx="530352" cy="530352"/>
          </a:xfrm>
          <a:prstGeom prst="ellipse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640" y="594360"/>
            <a:ext cx="493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· named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Named trainer example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delivery assignment is confirmed separately by the provider.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Example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Demonstrations, guided technical analysis and supervised activities.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Provider confirms credentials and assignment.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Contact /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+65 6100 0613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LMS: lms-tms.tertiaryinfotech.com</a:t>
            </a:r>
          </a:p>
        </p:txBody>
      </p:sp>
      <p:sp>
        <p:nvSpPr>
          <p:cNvPr id="22" name="Oval 21"/>
          <p:cNvSpPr/>
          <p:nvPr/>
        </p:nvSpPr>
        <p:spPr>
          <a:xfrm>
            <a:off x="10817352" y="438912"/>
            <a:ext cx="530352" cy="530352"/>
          </a:xfrm>
          <a:prstGeom prst="ellipse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640" y="594360"/>
            <a:ext cx="493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Your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Name, role and network responsibilities.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Example equipment/platform used.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Your diagnostic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Describe a symptom and a command/capture that helped locate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Your learning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Identify one addressing, switching, routing or security task you need to verify.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Isolated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synthetic addresses and credentials. Never paste live secrets into AI prompts or public artifacts.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Evidence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commands, outputs and target identity; distinguish simulated evidence from hardware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Collaborative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Ask questions, respect equipment and peers, and keep activity files organized for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/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Days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Network Fundamentals and Network Access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Addressing, physical links, VLANs, trunks, STP and WLANs.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Days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 Connectivity, IP Services and Security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Static/OSPF, NAT, DHCP/DNS, ACLs and access controls.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Day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Automation, integrated verification and announced v2.0 transition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Written and practical assessment.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· TSC ICT-DIT-3009-1.1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A1-A2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Analyze requirements and select interdependent components using capacity, addressing and path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A3-A4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Implement devices and access controls; interpret observable configuration and network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A5-A6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 management tools; report stability and remediation from verified operational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 hour, open book; knowledge questions aligned to K1-K6. Use current course guide and supplied references.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 hour, open book; device/network implementation and verification aligned to A1-A6.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 /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Assessment is separate from learning activities and external CCNA practice. Submit using trainer-issued LMS instructions.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Attendance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Minimum attendance requirement and assessment eligibility are checked against the current programme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Competency is judged using the approved WSQ assessment criteria; Cisco exam passing rules are separate.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Funding terms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Refer to current official course page and provider eligibility terms. Funding depends on learner eligibility.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Courseware and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Current courseware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course LMS entry for slides, guide and activities. Verify title and TGS code before downloading.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Private assessments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Candidate assessment papers and submission links are trainer-issued. Answer keys remain trainer-only.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mismatched course links to the trainer.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CCNA v1.1 domain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Network Fundamentals 20%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Network Access 20%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IP Connectivity 25%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IP Services 10%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Security Fundamentals 15%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Automation and Programmability 10%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Current v1.1 until 2 Feb 2027.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Network Fundamentals 20%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FORMULA · 2^HOSTBITS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allocation: demand versus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Usable capacity:62,30,14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Prefixes:/26,/27,/28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Allocate aligned blocks largest first.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 overlap is permitted.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Usable capacity:62,30,14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SUBNET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VLANs: /26 versus /27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/24 borrowed 2 bits gives 4 subnets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Borrow 3 bits gives 8 subnets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Five equalVLANs require /27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Each block has 30 usable addresses.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A /24 borrowed 2 bits gives 4 subnets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HARDWARE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budget: allocated versus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123.2 W required &gt;120 W available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Shortfall 3.2 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Check per-port class plus total budget.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Link-up is not proof of delivered power.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123.2 W required &gt;120 W available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20%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Fundamentals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Network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and packet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Host 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Source/destination L2 addresses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Access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Learn and forward within VLAN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Default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Terminate subnet and rewrite L2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Ethernet dst 00:11:22:33:44:55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TCP src 49152 dst 443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remote IP never becomes a local destination MAC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Capture both sides of R1: IP endpoints persist without NAT; source and destination MAC change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and packet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Application bytes enter TCP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selects destination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Ethernet selects next-hop MAC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rewrites L2 at each 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Ethernet dst 00:11:22:33:44:55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TCP src 49152 dst 443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and packet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Ethernet dst 00:11:22:33:44:55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IPv4 src 192.0.2.10 dst 198.51.100.20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TCP src 49152 dst 443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Host NIC · Application bytes enter TCP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Ethernet selects next-hop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rewrites L2 at each 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and packet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remote IP never becomes a local destination MAC. Validate ARP for the gateway, not the remote server.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Capture both sides of R1: IP endpoints persist without NAT; source and destination MAC change. TTL decreases by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Ethernet dst 00:11:22:33:44:55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Default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Frame and packet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 NIC -&gt; Default gateway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Ethernet dst 00:11:22:33:44:55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rewrites L2 at each hop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TCP src 49152 dst 443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Capture both sides of R1: IP endpoints persist without NAT; source and destination MAC change. TTL decreases by one.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remote IP never becomes a local destination MAC. Validate ARP for the gateway, not the remote server.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 and switch forwarding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CAM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Source-MAC learning and destination-MAC lookup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Routing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Destination-IP longest-prefix lookup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ARP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IPv4 next-hop to MAC resolution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 VLAN 10 0011.2233.4455 Gi1/0/1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ARP 192.0.2.1 00aa.bbcc.ddee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Unknown unicast floods only within its VLAN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mac address-table; show ip route; show ip arp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 and switch forwarding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Switch learns source MAC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Lookup uses destination MAC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performs longest prefix match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ARP resolves egress next 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 VLAN 10 0011.2233.4455 Gi1/0/1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ARP 192.0.2.1 00aa.bbcc.ddee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 and switch forwarding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MAC VLAN 10 0011.2233.4455 Gi1/0/1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Route 198.51.100.0/24 via 192.0.2.1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ARP 192.0.2.1 00aa.bbcc.ddee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CAM table · Switch learns source 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performs longest prefix 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ARP resolves egress next 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 and switch forwarding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Unknown unicast floods only within its VLAN. A missing route is not solved by adding a MAC entry.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mac address-table; show ip route; show ip arp. Separate L2 learning from L3 path selection.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 VLAN 10 0011.2233.4455 Gi1/0/1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ARP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Router and switch forwarding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CAM table -&gt; ARP table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MAC VLAN 10 0011.2233.4455 Gi1/0/1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ARP resolves egress next hop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ARP 192.0.2.1 00aa.bbcc.ddee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mac address-table; show ip route; show ip arp. Separate L2 learning from L3 path selection.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Unknown unicast floods only within its VLAN. A missing route is not solved by adding a MAC entry.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and IPS control points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Inside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protected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Policy firewall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Tuple/state-based policy enforcement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Inline 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Payload inspection and verdict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Session TCP 192.0.2.10:49152 -&gt; 203.0.113.5:443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IPS verdict: alert / 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Stateful permit does not imply payload is safe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policy hit counters, session entries and IPS event timestamps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and IPS control points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Session initiates outbound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State table records tuple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 tuple matches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IPS inspects permitted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Session TCP 192.0.2.10:49152 -&gt; 203.0.113.5:443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IPS verdict: alert / block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and IPS control points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Session TCP 192.0.2.10:49152 -&gt; 203.0.113.5:443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State ESTABLISHED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IPS verdict: alert / 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Inside segment · Session initiates outbound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tuple matches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IPS inspects permitted payload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Firewall and IPS control points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Stateful permit does not imply payload is safe. Asymmetric routing can prevent return traffic matching the expected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policy hit counters, session entries and IPS event timestamps. A permitted session can still be blocked by inspection.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Session TCP 192.0.2.10:49152 -&gt; 203.0.113.5:443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Inline 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Firewall and IPS control points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Inside segment -&gt; Inline IPS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Session TCP 192.0.2.10:49152 -&gt; 203.0.113.5:443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IPS inspects permitted payload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IPS verdict: alert / block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policy hit counters, session entries and IPS event timestamps. A permitted session can still be blocked by inspection.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Stateful permit does not imply payload is safe. Asymmetric routing can prevent return traffic matching the expected state.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controller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Wireless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Association and encryption endpoint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Access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RF access and CAPWAP endpoint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WLAN policy and AP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CAPWAP control UDP 5246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SSID Staff -&gt; VLAN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infer data path from control connectivity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 AP mode, WLAN-to-VLAN mapping and client IP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controller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associates to 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CAPWAP carries AP control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WLC applies WLAN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Data uses central or local switching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CAPWAP control UDP 5246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SSID Staff -&gt; VLAN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controller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CAPWAP control UDP 5246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CAPWAP data UDP 5247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SSID Staff -&gt; VLAN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Wireless client · Client associates to 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WLC applies WLAN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Data uses central or local switching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controller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infer data path from control connectivity. FlexConnect local switching may keep client traffic at the site.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Identify AP mode, WLAN-to-VLAN mapping and client IP. Control tunnel reachability and client gateway reachability are different tests.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CAPWAP control UDP 5246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WLC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controller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Wireless client -&gt; WLC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CAPWAP control UDP 5246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Data uses central or local switching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SSID Staff -&gt; VLAN 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Identify AP mode, WLAN-to-VLAN mapping and client IP. Control tunnel reachability and client gateway reachability are different tests.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infer data path from control connectivity. FlexConnect local switching may keep client traffic at the site.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and server dependencies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Resolver and application initiator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DNS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Name-to-address response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Application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Service listener and authorization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DNS A app.example.test 192.0.2.50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HTTP status 200 after TLS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successful ping proves neither DNS nor application authorization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DNS result, TCP connection and HTTP response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and server dependencies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Name resolves to address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opens transport session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authorizes request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Response returns on routed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DNS A app.example.test 192.0.2.50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HTTP status 200 after TLS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and server dependencies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DNS A app.example.test 192.0.2.50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TCP SYN dst 443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HTTP status 200 after TLS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Client · Name resolves to address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Server authorizes request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Response returns on routed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and server dependencies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successful ping proves neither DNS nor application authorization. Diagnose each dependency using its own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DNS result, TCP connection and HTTP response. Record addresses and time so the test is reproducible.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DNS A app.example.test 192.0.2.50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Application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and server dependencies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-&gt; Application server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DNS A app.example.test 192.0.2.50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Response returns on routed path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HTTP status 200 after TLS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DNS result, TCP connection and HTTP response. Record addresses and time so the test is reproducible.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successful ping proves neither DNS nor application authorization. Diagnose each dependency using its own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power budgets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PoE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Allocates per-port and total watts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Powered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Consumes negotiated PoE power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Power 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Limits available total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 APs x 15.4 W = 123.2 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Deficit = 3.2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port can have a working data link while power is denied or constrained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power inline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power budgets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signature detected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Power class negotiated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Budget reserves watts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Link and radio initialize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 APs x 15.4 W = 123.2 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Deficit = 3.2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power budgets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8 APs x 15.4 W = 123.2 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Switch available budget = 120 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Deficit = 3.2 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PoE switch · Device signature 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Budget reserves watts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Link and radio initialize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power budgets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port can have a working data link while power is denied or constrained. Budget and per-port limits both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power inline. Sum allocated power, examine denied ports and compare hardware PoE class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 APs x 15.4 W = 123.2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Power supply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PoE power budgets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PoE switch -&gt; Power supply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8 APs x 15.4 W = 123.2 W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Link and radio initialize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Deficit = 3.2 W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power inline. Sum allocated power, examine denied ports and compare hardware PoE class support.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port can have a working data link while power is denied or constrained. Budget and per-port limits both matter.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Two-tier and three-tier paths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Access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Endpoint attachment and VLAN membership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Distribution 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Gateway/policy and route aggregation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Core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High-capacity routed transit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 VLAN 10 -&gt; Distribution SVI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Core has no user access 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L2 stretched across distribution increases failure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Mark default gateway ownership and L2/L3 boundaries on the topology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Two-tier and three-tier paths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Endpoint traffic enters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Distribution applies gateway/policy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Core transports aggregated routes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 path follows destination lookup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 VLAN 10 -&gt; Distribution SVI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Core has no user access 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Two-tier and three-tier paths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Access VLAN 10 -&gt; Distribution SVI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Distribution routed uplink -&gt; Core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Core has no user access 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Access layer · Endpoint traffic enters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Core transports aggregated routes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path follows destination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Two-tier and three-tier paths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L2 stretched across distribution increases failure scope. Core design prioritizes fast routed transport over edge policy complexity.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Mark default gateway ownership and L2/L3 boundaries on the topology. Verify independent uplinks and equal-cost routes.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 VLAN 10 -&gt; Distribution SVI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Core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Two-tier and three-tier paths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Access layer -&gt; Core layer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Access VLAN 10 -&gt; Distribution SVI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Return path follows destination lookup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Core has no user access ports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Mark default gateway ownership and L2/L3 boundaries on the topology. Verify independent uplinks and equal-cost routes.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L2 stretched across distribution increases failure scope. Core design prioritizes fast routed transport over edge policy complexity.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Spine-leaf forwarding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Leaf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Host-facing fabric attachment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Spine 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Equal-cost inter-leaf transport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Leaf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host attachment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Leaf A -&gt; Spine 1 -&gt; Leaf 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Inter-leaf routed path: two fabric links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Leaf-to-leaf links are not required in a standard spine-leaf fabric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Count equal-cost paths and hop symmetry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Spine-leaf forwarding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 enters local leaf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Leaf selects a spine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Spine forwards to destination leaf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Leaf delivers locally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Leaf A -&gt; Spine 1 -&gt; Leaf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Inter-leaf routed path: two fabric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Spine-leaf forwarding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Leaf A -&gt; Spine 1 -&gt; Leaf 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Alternative Leaf A -&gt; Spine 2 -&gt; Leaf 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Inter-leaf routed path: two fabric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Leaf A · Host enters local leaf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Spine forwards to destination leaf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Leaf delivers locally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Spine-leaf forwarding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Leaf-to-leaf links are not required in a standard spine-leaf fabric. Oversubscription still depends on link capacities.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Count equal-cost paths and hop symmetry. Compare downlink aggregate bandwidth with uplink bandwidth.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Leaf A -&gt; Spine 1 -&gt; Leaf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Leaf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Spine-leaf forwarding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Leaf A -&gt; Leaf 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Leaf A -&gt; Spine 1 -&gt; Leaf 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Leaf delivers locally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Inter-leaf routed path: two fabric links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Count equal-cost paths and hop symmetry. Compare downlink aggregate bandwidth with uplink bandwidth.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Leaf-to-leaf links are not required in a standard spine-leaf fabric. Oversubscription still depends on link capacities.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WAN and SOHO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LAN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subnet and default 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Provider WAN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Provider transport and next hop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Remote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application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LAN 192.168.10.0/24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Default via 203.0.113.1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Private addressing cannot traverse the public Internet without a suitable translation or tunnel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LAN gateway, provider next hop and a remote address separately; record where loss begins.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WAN and SOHO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LAN packet reaches CPE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CPE routes or translates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Provider transports traffic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Remote gateway delivers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LAN 192.168.10.0/24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Default via 203.0.113.1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WAN and SOHO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LAN 192.168.10.0/24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CPE WAN 203.0.113.2/30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Default via 203.0.113.1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LAN router · LAN packet reaches CPE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Provider transports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Remote gateway delivers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WAN and SOHO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Private addressing cannot traverse the public Internet without a suitable translation or tunnel path. WAN failure can leave LAN healthy.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LAN gateway, provider next hop and a remote address separately; record where loss begins.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LAN 192.168.10.0/24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Remote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WAN and SOHO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LAN router -&gt; Remote service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LAN 192.168.10.0/24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gateway delivers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Default via 203.0.113.1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Test LAN gateway, provider next hop and a remote address separately; record where loss begins.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Private addressing cannot traverse the public Internet without a suitable translation or tunnel path. WAN failure can leave LAN healthy.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and on-premises ownership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Enterprise address and route ownership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Cloud VPC/VNet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Cloud subnet routes and security 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Provider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WAN/cloud connectivity boundary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Tunnel routes must avoid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Overlapping RFC 1918 ranges make routing ambiguous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both route tables, tunnel state and cloud security rules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and on-premises ownership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Traffic exits enterprise edge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Encrypted connection crosses WAN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Cloud route selects subnet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Security policy filters destination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Tunnel routes must avoid overlap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and on-premises ownership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Local 10.10.0.0/16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Cloud 10.20.0.0/16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Tunnel routes must avoid 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LAN · Traffic exits enterprise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Cloud route selects subnet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Security policy filters destination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Cloud and on-premises ownership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Overlapping RFC 1918 ranges make routing ambiguous. Provider responsibility does not cover a customer's route or security-rule error.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Check both route tables, tunnel state and cloud security rules. State who owns each control before changing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Provider 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Cloud and on-premises ownership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LAN -&gt; Provider edge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10.10.0.0/16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Security policy filters destination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Tunnel routes must avoid overlap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Check both route tables, tunnel state and cloud security rules. State who owns each control before changing it.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Overlapping RFC 1918 ranges make routing ambiguous. Provider responsibility does not cover a customer's route or security-rule error.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Copper and optical link contracts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Transceiver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Optic/PHY capability and wavelength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Physical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Distance and medium compatibility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Peer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Negotiated speed and receive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1000BASE-T: copper twisted pair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1000BASE-LX: longer-wave optical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Connector fit alone does not prove compatibility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both interface/transceiver specifications; inspect optical receive power and interface errors.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Copper and optical link contracts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PHY negotiates capabilities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Signal crosses matched medium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Receiver recovers symbols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MAC reports link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1000BASE-T: copper twisted pair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1000BASE-LX: longer-wave optical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Copper and optical link contracts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1000BASE-T: copper twisted pair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1000BASE-SX: multimode optical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1000BASE-LX: longer-wave optical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Transceiver · PHY negotiates 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Receiver recovers symbols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MAC reports link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Copper and optical link contracts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Connector fit alone does not prove compatibility. Match wavelength, fiber type, supported optic and distance rating.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both interface/transceiver specifications; inspect optical receive power and interface errors.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1000BASE-T: copper twisted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Peer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Copper and optical link contracts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Transceiver -&gt; Peer 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1000BASE-T: copper twisted pair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MAC reports link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1000BASE-LX: longer-wave optical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both interface/transceiver specifications; inspect optical receive power and interface errors.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Connector fit alone does not prove compatibility. Match wavelength, fiber type, supported optic and distance rating.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Duplex and interface errors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speed, duplex and counters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Physical cable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Signal quality and physical continuity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Peer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speed, duplex and counters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interfaces Gi1/0/1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Speed 100 Mb/s; duplex half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Late collisions suggest duplex or distance issues on half-duplex Ethernet; CRCs also arise from cable/optical faults.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speed/duplex on both ends and monitor counter deltas after remediation rather than relying on old totals.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Duplex and interface errors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Frames transmit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Collision/error counters increment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Protocol retransmits lost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Throughput falls despite link-up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interfaces Gi1/0/1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Speed 100 Mb/s; duplex half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Duplex and interface errors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interfaces Gi1/0/1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CRC: 240; late collisions: 12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Speed 100 Mb/s; duplex half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interface · Frames transmit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Protocol retransmits lost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Throughput falls despite link-up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Duplex and interface errors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Late collisions suggest duplex or distance issues on half-duplex Ethernet; CRCs also arise from cable/optical faults.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speed/duplex on both ends and monitor counter deltas after remediation rather than relying on old totals.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interfaces Gi1/0/1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Peer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Duplex and interface errors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interface -&gt; Peer 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interfaces Gi1/0/1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Throughput falls despite link-up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Speed 100 Mb/s; duplex half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speed/duplex on both ends and monitor counter deltas after remediation rather than relying on old totals.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Late collisions suggest duplex or distance issues on half-duplex Ethernet; CRCs also arise from cable/optical faults.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session state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Client 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Sequence, flags and source 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Network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Loss, latency and filtering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Server 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Listener, state and destination 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Client SYN seq=1000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Client ACK seq=1001 ack=7001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SYN retransmission can indicate filtering or an absent listener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flags and sequence/ack fields in a capture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session state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SYN proposes sequence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SYN-ACK acknowledges client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ACK establishes 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FIN or RST terminates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Client SYN seq=1000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Client ACK seq=1001 ack=7001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session state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Client SYN seq=1000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Server SYN-ACK seq=7000 ack=1001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Client ACK seq=1001 ack=7001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Client socket · SYN proposes 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ACK establishes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 or RST terminates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session state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SYN retransmission can indicate filtering or an absent listener. A RST indicates a different failure from silence.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flags and sequence/ack fields in a capture. Confirm whether the handshake completed before testing application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Client SYN seq=1000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Server socket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TCP session state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socket -&gt; Server socket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SYN seq=1000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FIN or RST terminates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ACK seq=1001 ack=7001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flags and sequence/ack fields in a capture. Confirm whether the handshake completed before testing application data.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SYN retransmission can indicate filtering or an absent listener. A RST indicates a different failure from silence.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UDP delivery and application recovery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Sender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Datagram creation and retry logic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UDP/IP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Best-effort transport with port/checksum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Receiver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Application transaction matching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src 53000 dst 53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Response must match transaction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UDP does not establish a transport session or guarantee order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Correlate request and response using application identifiers, endpoints and timestamps; inspect loss separately from latency.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UDP delivery and application recovery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Application creates datagram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UDP supplies ports/checksum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attempts delivery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Application handles loss or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src 53000 dst 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Response must match transaction 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UDP delivery and application recovery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UDP src 53000 dst 53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DNS query ID 0x1234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Response must match transaction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Sender process · Application creates datagram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 attempts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Application handles loss or retry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UDP delivery and application recovery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UDP does not establish a transport session or guarantee order. A protocol can implement retries above UDP.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Correlate request and response using application identifiers, endpoints and timestamps; inspect loss separately from latency.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src 53000 dst 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Receiver process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UDP delivery and application recovery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Sender process -&gt; Receiver process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UDP src 53000 dst 53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Application handles loss or retry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Response must match transaction ID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Correlate request and response using application identifiers, endpoints and timestamps; inspect loss separately from latency.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UDP does not establish a transport session or guarantee order. A protocol can implement retries above UDP.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subnet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Network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Fixed prefix identifies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Host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Variable bits provide host capacity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Broadcast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All-one host bits identify broadcast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192.0.2.65/26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Network .64; usable .65-.126; broadcast .127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include network or broadcast in a traditional subnet's host allocation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2^(32-26)-2 = 62 usable addresses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subnet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Prefix fixes network portion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 bits vary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All-zero host identifies network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All-one host identifies broadcast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192.0.2.65/26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Network .64; usable .65-.126; broadcast .127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subnet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192.0.2.65/26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Mask 255.255.255.192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Network .64; usable .65-.126; broadcast .127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Network bits · Prefix fixes network portion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All-zero host identifies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All-one host identifies broadcast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subnet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include network or broadcast in a traditional subnet's host allocation. /31 point-to-point links are a special case.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2^(32-26)-2 = 62 usable addresses. Check that each assigned address remains within .64-.127.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192.0.2.65/26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Broadcast boundary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IPv4 subnet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Network bits -&gt; Broadcast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192.0.2.65/26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All-one host identifies broadcast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Network .64; usable .65-.126; broadcast .127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2^(32-26)-2 = 62 usable addresses. Check that each assigned address remains within .64-.127.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include network or broadcast in a traditional subnet's host allocation. /31 point-to-point links are a special case.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address allocation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Address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Available aggregate address space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Largest subnet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First aligned highest-capacity block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Smaller subnets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Later aligned nonoverlapping blocks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12 hosts -&gt; .96/28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Choosing an unaligned starting boundary causes overlap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 allocated ranges do not intersect; compare usable host counts 62, 30, 14 with requirements 60, 28, 12.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address allocation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Sort host demands descending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Choose prefix for each need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Allocate aligned blocks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Reserve remaining address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10.10.0.0/24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12 hosts -&gt; .96/28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address allocation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10.10.0.0/24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60 hosts -&gt; .0/26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28 hosts -&gt; .64/27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12 hosts -&gt; .96/28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Address pool · Sort host demands descending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Allocate aligned blocks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Reserve remaining address 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address allocation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Choosing an unaligned starting boundary causes overlap. VLSM addresses capacity; routes must also be advertised correctly.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Prove allocated ranges do not intersect; compare usable host counts 62, 30, 14 with requirements 60, 28, 12.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10.10.0.0/24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Smaller subnets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VLSM address allocation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Address pool -&gt; Smaller subnets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10.10.0.0/24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Reserve remaining address space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12 hosts -&gt; .96/28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Prove allocated ranges do not intersect; compare usable host counts 62, 30, 14 with requirements 60, 28, 12.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Choosing an unaligned starting boundary causes overlap. VLSM addresses capacity; routes must also be advertised correctly.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Private and public addressing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RFC 1918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RFC 1918 internally routable scope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Enterprise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Public path and translation boundary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Public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Globally reachable destination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Private: 10/8, 172.16/12, 192.168/16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Documentation: 192.0.2/24, 198.51.100/24, 203.0.113/24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Documentation ranges are for examples, not production Internet addressing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Classify each candidate prefix; preserve original and translated addresses in the incident report.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Private and public addressing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Private address is assigned internally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Edge selects Internet 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NAT may change source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Public server returns translated tuple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Private: 10/8, 172.16/12, 192.168/16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Documentation: 192.0.2/24, 198.51.100/24, 203.0.113/24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Private and public addressing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Private: 10/8, 172.16/12, 192.168/16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Documentation: 192.0.2/24, 198.51.100/24, 203.0.113/24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RFC 1918 space · Private address is assigned internally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NAT may change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Public server returns translated tuple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Private and public addressing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Documentation ranges are for examples, not production Internet addressing. 172.15.0.0/16 is outside RFC 1918.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Classify each candidate prefix; preserve original and translated addresses in the incident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Private: 10/8, 172.16/12, 192.168/16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Public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Private and public addressing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RFC 1918 space -&gt; Public service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Private: 10/8, 172.16/12, 192.168/16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Public server returns translated tuple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Documentation: 192.0.2/24, 198.51.100/24, 203.0.113/24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Classify each candidate prefix; preserve original and translated addresses in the incident report.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Documentation ranges are for examples, not production Internet addressing. 172.15.0.0/16 is outside RFC 1918.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address types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Global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Routed unicast scope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Link-local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Same-link FE80::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Multicast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Selected receiver group FF00::/8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Global 2001:db8:10::10/64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 nodes ff02::1; all routers ff02::2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link-local next hop needs an outgoing interface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Classify global unicast, unique-local FC00::/7, link-local and multicast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address types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gains FE80::/10 link-local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Global prefix identifies routed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Multicast reaches selected members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broadcast exists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Global 2001:db8:10::10/64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 nodes ff02::1; all routers ff02::2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address types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Global 2001:db8:10::10/64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Link-local fe80::10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All nodes ff02::1; all routers ff02::2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Global interface · Interface gains FE80::/10 link-local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Multicast reaches selected members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broadcast exists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address types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link-local next hop needs an outgoing interface scope. 2001:db8::/32 is documentation 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Classify global unicast, unique-local FC00::/7, link-local and multicast. Inspect interface and route scopes.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Global 2001:db8:10::10/64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Multicast group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address types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Global interface -&gt; Multicast group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Global 2001:db8:10::10/64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No broadcast exists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All nodes ff02::1; all routers ff02::2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Classify global unicast, unique-local FC00::/7, link-local and multicast. Inspect interface and route scopes.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link-local next hop needs an outgoing interface scope. 2001:db8::/32 is documentation space.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neighbor and SLAAC state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SLAAC address and DAD 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IPv6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RA prefix and default-router source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Neighbor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IPv6-to-MAC neighbor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RA: prefix 2001:db8:10::/64 A=1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NS target 2001:db8:10::20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Blocking necessary ICMPv 6 breaks neighbor discovery and path operation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RA prefix, tentative-to-preferred DAD state and neighbor cache entry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neighbor and SLAAC state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RS solicits routers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RA advertises prefix/default router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 performs DAD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NS/NA resolves neighbor MAC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RA: prefix 2001:db8:10::/64 A=1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NS target 2001:db8:10::20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neighbor and SLAAC state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RA: prefix 2001:db8:10::/64 A=1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Default router fe80::1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NS target 2001:db8:10::20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Host · RS solicits routers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Host performs 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NS/NA resolves neighbor 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neighbor and SLAAC state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Blocking necessary ICMPv 6 breaks neighbor discovery and path operation. SLAAC does not derive a default gateway from DHCPv 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RA prefix, tentative-to-preferred DAD state and neighbor cache entry. Confirm a usable default route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RA: prefix 2001:db8:10::/64 A=1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Neighbor cache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neighbor and SLAAC state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 -&gt; Neighbor cache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RA: prefix 2001:db8:10::/64 A=1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NS/NA resolves neighbor MAC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NS target 2001:db8:10::20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Verify RA prefix, tentative-to-preferred DAD state and neighbor cache entry. Confirm a usable default route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Blocking necessary ICMPv 6 breaks neighbor discovery and path operation. SLAAC does not derive a default gateway from DHCPv 6.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channel and virtual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Radio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Shared RF airtime and contention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SSID/VLAN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Wireless logical security/network mapping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Virtual 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VM attachment and VLAN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2.4 GHz nonoverlap example: 1, 6, 11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VM vNIC -&gt; port group VLAN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Overlapping channels increase contention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channel utilization, SSID security, VM VLAN tag and host IP/gateway; separate RF evidence from virtual-switch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channel and virtual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Radio shares airtime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SSID assigns policy domain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Virtual switch connects VM NIC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L3 gateway routes between subnets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2.4 GHz nonoverlap example: 1, 6,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VM vNIC -&gt; port group VLAN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channel and virtual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2.4 GHz nonoverlap example: 1, 6, 11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Staff SSID -&gt; VLAN 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VM vNIC -&gt; port group VLAN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Radio channel · Radio shares airtime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Virtual switch connects VM 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L3 gateway routes between subnets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channel and virtual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Overlapping channels increase contention. A VM port-group VLAN mismatch looks like a physical network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channel utilization, SSID security, VM VLAN tag and host IP/gateway; separate RF evidence from virtual-switch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2.4 GHz nonoverlap example: 1, 6,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Virtual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channel and virtual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Radio channel -&gt; Virtual switch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2.4 GHz nonoverlap example: 1, 6, 11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L3 gateway routes between subnets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VM vNIC -&gt; port group VLAN 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channel utilization, SSID security, VM VLAN tag and host IP/gateway; separate RF evidence from virtual-switch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Overlapping channels increase contention. A VM port-group VLAN mismatch looks like a physical network failure.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interface and anycast contracts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Router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Owns configured IPv6 address/prefix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Unicast 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destination interface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Anycast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address on multiple service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ipv6 enable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Anycast uses unicast address format; it is not multicast fan-out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ipv 6 interface brief; compare configured /64 and address scope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interface and anycast contracts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receives global/link-local addresses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Unicast identifies one interface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Anycast address exists on multiple nodes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Routing delivers to topologically nearest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ipv 6 enable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interface and anycast contracts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ipv6 address 2001:db8:10::1/64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ipv6 address fe80::1 link-local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ipv6 enable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interface · Interface receives global/link-local addresses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Anycast address exists on multiple nodes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Routing delivers to topologically nearest member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interface and anycast contracts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Anycast uses unicast address format; it is not multicast fan-out. Nearest means routing metric, not geographic distance.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ipv 6 interface brief; compare configured /64 and address scope. Anycast response comes from one reachable service member.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Anycast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interface and anycast contracts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interface -&gt; Anycast service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Gi0/1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Routing delivers to topologically nearest member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ipv 6 enable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ipv 6 interface brief; compare configured /64 and address scope. Anycast response comes from one reachable service member.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Anycast uses unicast address format; it is not multicast fan-out. Nearest means routing metric, not geographic distance.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VRF routing isolation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VRF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Independent BLUE route/forwarding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VRF 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Independent GREEN route/forwarding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Shared physical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Common hardware with isolated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BLUE route 10.10.0.0/16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ip route vrf BLUE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inspect the global route table and assume a VRF-bound interface has the same paths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interface VRF assignment and VRF-specific route/ARP evidence; same prefix can validly use different next hops.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VRF routing isolation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binds to VRF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VRF owns separate RIB/FIB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Overlapping prefixes remain isolated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Leak occurs only with explicit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BLUE route 10.10.0.0/16 via 10.0.0.2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ip route vrf BLUE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VRF routing isolation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BLUE route 10.10.0.0/16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GREEN route 10.10.0.0/16 via 10.0.0.6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ip route vrf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VRF BLUE · Interface binds to VRF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Overlapping prefixes remain isolated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Leak occurs only with explicit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VRF routing isolation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inspect the global route table and assume a VRF-bound interface has the same paths. Isolation is separate from encryption.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interface VRF assignment and VRF-specific route/ARP evidence; same prefix can validly use different next hops.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BLUE route 10.10.0.0/16 via 10.0.0.2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Shared physical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VRF routing isolation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VRF BLUE -&gt; Shared physical router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BLUE route 10.10.0.0/16 via 10.0.0.2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Leak occurs only with explicit policy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 vrf BLUE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Verify interface VRF assignment and VRF-specific route/ARP evidence; same prefix can validly use different next hops.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inspect the global route table and assume a VRF-bound interface has the same paths. Isolation is separate from encryption.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MAC aging and unknown-unicast scope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Source MAC 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Refreshes source location on received frames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CAM aging timer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Expires idle dynamic MAC entries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VLAN flood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Eligible ports in the same VLAN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 MAC0011.2233.4455 portGi 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Unknown unicast floods VLAN 10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Aging time varies by platform/configuration; a removed entry does not remove the host's 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mac address-table aging-time; compare entry before/after inactivity and source relearning; distinguish CAM aging from ARP aging.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MAC aging and unknown-unicast scope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Incoming source refreshes entry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Idle entry reaches aging threshold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Entry is removed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Unknown destination floods eligible same-VLAN 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 MAC0011.2233.4455 portGi 1/0/1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Unknown unicast floods VLAN 10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MAC aging and unknown-unicast scope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10 MAC0011.2233.4455 portGi 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Dynamic aging timer 300 s example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Unknown unicast floods VLAN 10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Source MAC learner · Incoming source refreshes entry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Entry is removed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Unknown destination floods eligible same-VLAN 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MAC aging and unknown-unicast scope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Aging time varies by platform/configuration; a removed entry does not remove the host's IP. Flooding cannot cross VLAN boundary without L3 processing.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mac address-table aging-time; compare entry before/after inactivity and source relearning; distinguish CAM aging from ARP aging.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 MAC0011.2233.4455 portGi 1/0/1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VLAN flood domain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MAC aging and unknown-unicast scope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Source MAC learner -&gt; VLAN flood domain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10 MAC0011.2233.4455 portGi 1/0/1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Unknown destination floods eligible same-VLAN ports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Unknown unicast floods VLAN 10 only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mac address-table aging-time; compare entry before/after inactivity and source relearning; distinguish CAM aging from ARP aging.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Aging time varies by platform/configuration; a removed entry does not remove the host's IP. Flooding cannot cross VLAN boundary without L3 processing.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Modified EUI-64 address construction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48-bit NIC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48-bit interface identifier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Inserted FFFE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16-bit insertion in MAC-derived value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64-bit interface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Final low 64 bits of IPv6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MAC00:11:22:33:44:55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2001:db8:10:0:211:22ff:fe33:4455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Modern clients often use privacy/stable interface IDs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Prove 00 xor 02 =02 and exact inserted FFFE placement; compare prefix plus 64-bit interface identifier.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Modified EUI-64 address construction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Split MAC into 24-bit halves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Insert hexadecimal FFFE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Invert universal/local bit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Join 64-bit ID to /64 prefix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MAC00:11:22:33:44:55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2001:db8:10:0:211:22ff:fe33:4455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Modified EUI-64 address construction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MAC00:11:22:33:44:55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ID0211:22ff:fe33:4455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2001:db8:10:0:211:22ff:fe33:4455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48-bit NIC MAC · Split MAC into 24-bit halves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Invert universal/local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64-bit ID to /64 prefix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Modified EUI-64 address construction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Modern clients often use privacy/stable interface IDs instead. EUI-64 calculation is a specified method, not a claim every host uses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Prove 00 xor 02 =02 and exact inserted FFFE placement; compare prefix plus 64-bit interface identifier.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MAC00:11:22:33:44:55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64-bit interface 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Modified EUI-64 address construction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48-bit NIC MAC -&gt; 64-bit interface ID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MAC00:11:22:33:44:55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Join 64-bit ID to /64 prefix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2001:db8:10:0:211:22ff:fe33:4455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Prove 00 xor 02 =02 and exact inserted FFFE placement; compare prefix plus 64-bit interface identifier.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Modern clients often use privacy/stable interface IDs instead. EUI-64 calculation is a specified method, not a claim every host uses it.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Hypervisor VM and container isolation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Hypervisor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Virtualizes guest hardware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Guest VM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Independent guest kernel and NIC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Container host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Shared host kernel with namespaces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VM: app-&gt;guest kernel-&gt;vNIC-&gt;vSwitch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policy belongs to attachment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container is not a separate guest kernel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address, virtual NIC/bridge, VLAN and gateway; compare host versus guest responsibilities during a connectivity incident.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Hypervisor VM and container isolation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Hypervisor virtualizes hardware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VM owns guest kernel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Container shares host kernel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vNIC/veth attaches virtual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VM: app-&gt;guest kernel-&gt;vNIC-&gt;vSwitch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VLAN policy belongs to attachment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Hypervisor VM and container isolation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VM: app-&gt;guest kernel-&gt;vNIC-&gt;vSwitch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Container: app-&gt;shared kernel-&gt;veth/bridge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policy belongs to attachment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Hypervisor · Hypervisor virtualizes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Container shares host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vNIC/veth attaches virtual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Hypervisor VM and container isolation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container is not a separate guest kernel. Network namespaces and virtual attachment policies still require isolation controls.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Trace address, virtual NIC/bridge, VLAN and gateway; compare host versus guest responsibilities during a connectivity incident.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VM: app-&gt;guest kernel-&gt;vNIC-&gt;vSwitch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Container host kernel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Hypervisor VM and container isolation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Hypervisor -&gt; Container host kernel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VM: app-&gt;guest kernel-&gt;vNIC-&gt;vSwitch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vNIC/veth attaches virtual network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policy belongs to attachment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Trace address, virtual NIC/bridge, VLAN and gateway; compare host versus guest responsibilities during a connectivity incident.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container is not a separate guest kernel. Network namespaces and virtual attachment policies still require isolation controls.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RF link-budget and interference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 transmitter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Transmit power and antenna gain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RF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Loss and noise through RF medium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Client receiver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Received strength, SNR and retry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RSSI-62 dBm; noise-92 dBm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RSSI alone does not establish usable throughput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Good signal can coexist with interference/high contention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SNR, utilization, retry rate and client throughput; identify whether issue is signal strength, noise or airtime contention.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RF link-budget and interference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Transmit power enters antenna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Path loss reduces received signal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Noise determines signal margin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Rate adaptation responds to channel conditions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RSSI-62 dBm; noise-92 dBm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RSSI alone does not establish usable throughput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RF link-budget and interference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RSSI-62 dBm; noise-92 dBm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SNR=30 dB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Channel utilization 75%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RSSI alone does not establish usable throughput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 transmitter · Transmit power enters antenna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Noise determines signal margin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Rate adaptation responds to channel conditions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RF link-budget and interference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Good signal can coexist with interference/high contention. Wider channels increase capacity potential but consume spectrum and affect reuse.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SNR, utilization, retry rate and client throughput; identify whether issue is signal strength, noise or airtime contention.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RSSI-62 dBm; noise-92 dBm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Client 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RF link-budget and interference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 transmitter -&gt; Client receiver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RSSI-62 dBm; noise-92 dBm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Rate adaptation responds to channel conditions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RSSI alone does not establish usable throughput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SNR, utilization, retry rate and client throughput; identify whether issue is signal strength, noise or airtime contention.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Good signal can coexist with interference/high contention. Wider channels increase capacity potential but consume spectrum and affect reuse.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Cross-platform client diagnostics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Windows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ipconfig, route print and resolver 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macOS 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ifconfig, netstat and resolver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Linux 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 addr, ip route and resolver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Windows: ipconfig /all; route print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All: ping + name/service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Different commands expose equivalent 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 evidence table for address, prefix, gateway, DNS, association/security and first failing path control.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Cross-platform client diagnostics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Read address/mask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Read default 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Resolve intended name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 path and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Windows: ipconfig /all; route 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All: ping + name/service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Cross-platform client diagnostics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Windows: ipconfig /all; route print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macOS: ifconfig; netstat -rn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Linux: ip addr; ip route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All: ping + name/service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Windows host · Read address/mask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Resolve intended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path and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Cross-platform client diagnostics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Different commands expose equivalent layers. A disconnected wireless association is separate from a correct but unusable IP configuration.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evidence table for address, prefix, gateway, DNS, association/security and first failing path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Windows: ipconfig /all; route 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Linux host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Cross-platform client diagnostics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Windows host -&gt; Linux host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Windows: ipconfig /all; route print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Test path and service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All: ping + name/service test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Build evidence table for address, prefix, gateway, DNS, association/security and first failing path control.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Different commands expose equivalent layers. A disconnected wireless association is separate from a correct but unusable IP configuration.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equal subnets from a /24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192.168.1.0/24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256-address aggregate pool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Three borrowed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Eight aligned equal-sized blocks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Five allocated /27 VLANs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Five nonoverlapping 30-host allocations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Five VLANs from 192.168.1.0/24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5 .128/27 gateway.158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choose /26 for five equal subnets: only four blocks fit in a /24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Each /27 has 30 usable addresses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equal subnets from a /24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Need at least five subnets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Borrow three bits since 2^3=8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/27 blocks of 32 addresses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Assign last usable gateway in each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Five VLANs from 192.168.1.0/24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VLAN 5 .128/27 gateway.158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equal subnets from a /24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Five VLANs from 192.168.1.0/24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/26 gives4subnets: insufficient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/27 gives8subnets: enough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1 .0/27 gateway.30; VLAN 2 .32/27 gateway.62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3 .64/27 gateway.94; VLAN 4 .96/27 gateway.126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5 .128/27 gateway.158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192.168.1.0/24 pool · Need at least five subnets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/27 blocks of 32 addresses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Assign last usable gateway in each block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Five equal subnets from a /24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choose /26 for five equal subnets: only four blocks fit in a /24. A Layer 2 switch management address belongs on an SVI, not an ordinary switched physical 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/27 has 30 usable addresses. Gateways .30, .62, .94, .126, .158 are the last usable addresses; broadcast addresses .31, .63, .95, .127, .159 are not host assignments.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Five VLANs from 192.168.1.0/24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Five allocated /27 VLANs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Five equal subnets from a /24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192.168.1.0/24 pool -&gt; Five allocated /27 VLANs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Five VLANs from 192.168.1.0/24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Assign last usable gateway in each block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5 .128/27 gateway.158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Each /27 has 30 usable addresses. Gateways .30, .62, .94, .126, .158 are the last usable addresses; broadcast addresses .31, .63, .95, .127, .159 are not host assignments.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choose /26 for five equal subnets: only four blocks fit in a /24. A Layer 2 switch management address belongs on an SVI, not an ordinary switched physical port.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Single-mode versus multimode optical paths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Single-mode fibre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propagation mode and lower modal dispersion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Multimode fibre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Multiple modes and modal dispersion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Matched optic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Compatible transmit/receive optical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Single-mode: small core, one propagation mode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1000BASE-LX:1310nm class; verify exact reach/media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Fibre jacket colour does not prove specification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both-end wavelength, fibre type, supported distance and receive power; a fitted connector is insufficient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Single-mode versus multimode optical paths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Emitter selects wavelength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Core/mode characteristics govern propagation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Attenuation/dispersion limit reach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Receiver power must stay in supported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Single-mode: small core, one propagation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1000BASE-LX:1310nm class; verify exact reach/media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Single-mode versus multimode optical paths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Single-mode: small core, one propagation mode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Multimode: larger core, multiple modes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1000BASE-SX: short-wave multimode example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1000BASE-LX:1310nm class; verify exact reach/media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Single-mode fibre · Emitter selects wavelength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Attenuation/dispersion limit reach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Receiver power must stay in supported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Single-mode versus multimode optical paths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Fibre jacket colour does not prove specification. LX may have documented multimode support conditions; always check exact transceiver and cable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both-end wavelength, fibre type, supported distance and receive power; a fitted connector is insufficient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Single-mode: small core, one propagation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Matched optic pair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Single-mode versus multimode optical paths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Single-mode fibre -&gt; Matched optic pair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Single-mode: small core, one propagation mode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Receiver power must stay in supported range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1000BASE-LX:1310nm class; verify exact reach/media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both-end wavelength, fibre type, supported distance and receive power; a fitted connector is insufficient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Fibre jacket colour does not prove specification. LX may have documented multimode support conditions; always check exact transceiver and cable requirements.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1: addressing / Activity 2: physical and VLAN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ILLUSTRATIVE IMAGE + EDITABLE TECHNICAL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Copper and fibre: inspect the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pic>
        <p:nvPicPr>
          <p:cNvPr id="10" name="Picture 9" descr="cabling-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29968"/>
            <a:ext cx="6492240" cy="3246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2057400"/>
            <a:ext cx="3840480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2057400"/>
            <a:ext cx="3840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24028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Match both 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834640"/>
            <a:ext cx="356616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optic support, wavelength, medium, distance and received signal.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Illustration does not verify connector type or fibre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Synthetic cabling illustration; use transceiver specifications and current interface evidence for real identification.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20%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Network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VLAN membership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Client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Untagged ingress classified by 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VLAN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VLAN existence and L2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SVI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L3 interface for off-subnet forwarding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access vlan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VLAN must exist and be permitted on the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vlan brief; show interfaces switchport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VLAN membership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Untagged frame enters access 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assigns VLAN 10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Switch learns source in VLAN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SVI routes off subnet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access vlan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VLAN membership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name USERS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mode access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access vlan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Client port · Untagged frame enters access 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Switch learns source in VLAN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SVI routes off subnet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VLAN membership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VLAN must exist and be permitted on the path. Access VLAN configuration alone does not create a routed gateway.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vlan brief; show interfaces switchport. Check both operational mode and assigned access VLAN.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SVI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VLAN membership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port -&gt; SVI gateway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SVI routes off subnet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access vlan 10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vlan brief; show interfaces switchport. Check both operational mode and assigned access VLAN.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VLAN must exist and be permitted on the path. Access VLAN configuration alone does not create a routed gateway.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and data separation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IP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Tagged voice and control neighbor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Attached workstation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Untagged workstation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Access 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Data/voice VLAN classification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voice vlan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Trusting arbitrary endpoint QoS markings can admit inflated priority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voice VLAN, LLDP/CDP phone advertisement and the separate DHCP/IP ranges for phone and workstation.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and data separation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Phone tags voice frames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PC sends untagged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maps voice VLAN 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maps data VLAN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voice vlan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and data separation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mode access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access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voice vlan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 phone · Phone tags voice frames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maps voice VLAN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maps data VLAN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and data separation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Trusting arbitrary endpoint QoS markings can admit inflated priority. Voice VLAN does not authenticate the endpoint.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Inspect voice VLAN, LLDP/CDP phone advertisement and the separate DHCP/IP ranges for phone and workstation.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Access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and data separation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phone -&gt; Access switch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Port maps data VLAN 10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voice vlan 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Inspect voice VLAN, LLDP/CDP phone advertisement and the separate DHCP/IP ranges for phone and workstation.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Trusting arbitrary endpoint QoS markings can admit inflated priority. Voice VLAN does not authenticate the endpoint.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802.1Q trunk tagging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Switch A trunk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Tags egress VLAN membership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Tag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TPID, PCP, DEI and VID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Switch B trunk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Parses tag and selects VLAN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802.1Q: TPID 0x8100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 10 tag differs from VLAN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trunk can be up while required VLANs are pruned or missing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interfaces trunk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802.1Q trunk tagging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Access frame gains VLAN tag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Trunk carries multiplexed VLANs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Peer parses VID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Egress access port removes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802.1Q: TPID 0x8100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VLAN 10 tag differs from VLAN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802.1Q trunk tagging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802.1Q: TPID 0x8100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PCP 3 bits; DEI 1 bit; VID 12 bits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10 tag differs from VLAN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Switch A trunk · Access frame gains VLAN tag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Peer parses VID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Egress access port removes 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802.1Q trunk tagging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trunk can be up while required VLANs are pruned or missing. Tagging is a L2 multiplexing mechanism.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interfaces trunk. Compare allowed, active and forwarding VLAN lists on both 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802.1Q: TPID 0x8100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Switch B trunk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802.1Q trunk tagging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Switch A trunk -&gt; Switch B trunk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802.1Q: TPID 0x8100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Egress access port removes tag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10 tag differs from VLAN 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interfaces trunk. Compare allowed, active and forwarding VLAN lists on both ends.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trunk can be up while required VLANs are pruned or missing. Tagging is a L2 multiplexing mechanism.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Native VLAN consistency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Trunk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native VLAN interpretation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Untagged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 VID carried on untagged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Trunk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native VLAN interpretation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trunk allowed vlan 10,20,999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Native VLAN mismatches can join unintended broadcast domains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interfaces trunk and CDP native-VLAN warning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Native VLAN consistency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Sender transmits native traffic untagged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Receiver assigns local native VLAN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Mismatch changes VLAN interpretation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Control traffic reports mismatch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trunk allowed vlan 10, 20, 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Native VLAN consistency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mode trunk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trunk native vlan 999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trunk allowed vlan 10,20,999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Trunk A · Sender transmits native traffic untagged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Mismatch changes VLAN interpretation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Control traffic reports mismatch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Native VLAN consistency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Native VLAN mismatches can join unintended broadcast domains. Use a consistent unused native VLAN and verify policies.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interfaces trunk and CDP native-VLAN warning. Both ends must report native VLAN 999.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Trunk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Native VLAN consistency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Trunk A -&gt; Trunk 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 traffic reports mismatch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trunk allowed vlan 10, 20, 999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interfaces trunk and CDP native-VLAN warning. Both ends must report native VLAN 999.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Native VLAN mismatches can join unintended broadcast domains. Use a consistent unused native VLAN and verify policies.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Trunk negotiation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DTP-capable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Administrative negotiation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Peer 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Compatible or fixed peer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Operational trunk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Actual resulting tagging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nonegotiate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leave user-facing ports dynamically negotiable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administrative/operational modes and DTP status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Trunk negotiation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Administrative mode sets negotiation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DTP messages advertise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Compatible modes form trunk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Nonnegotiating trunk is explicitly 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nonegotiate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Trunk negotiation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mode trunk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nonegotiate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DTP-capable port · Administrative mode sets negotiation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Compatible modes form trunk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Nonnegotiating trunk is explicitly fixed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Trunk negotiation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leave user-facing ports dynamically negotiable. nonegotiate disables DTP sending, not 802.1Q tagging.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administrative/operational modes and DTP status. An explicitly configured trunk must still have a compatible peer.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Operational trunk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Trunk negotiation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DTP-capable port -&gt; Operational trunk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Nonnegotiating trunk is explicitly fixed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nonegotiate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administrative/operational modes and DTP status. An explicitly configured trunk must still have a compatible peer.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leave user-facing ports dynamically negotiable. nonegotiate disables DTP sending, not 802.1Q tagging.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Router-on-a-stick paths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VLAN 10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Original subnet and 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Router subinterface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Tag-specific routed interface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VLAN 20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subnet and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Gi0/0.10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 address 10.10.10.1 255.255.255.0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Parent interface must be active and switch trunk must allow VLAN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interface brief; ping each subinterface gateway; verify tags and route entries.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Router-on-a-stick paths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Tagged frame reaches router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Subinterface matches VLAN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selects destination subnet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Frame exits with destination VLAN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 address 10.10.10.1 255.255.255.0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Router-on-a-stick paths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Gi0/0.10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encapsulation dot1Q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address 10.10.10.1 255.255.255.0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VLAN 10 client · Tagged frame reaches 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selects destination subnet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Frame exits with destination VLAN 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Router-on-a-stick paths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Parent interface must be active and switch trunk must allow VLAN 10. Incorrect encapsulation binds gateway to the wrong VLAN.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interface brief; ping each subinterface gateway; verify tags and route entries.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VLAN 20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Router-on-a-stick paths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 10 client -&gt; VLAN 20 client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Gi0/0.10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Frame exits with destination VLAN tag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 address 10.10.10.1 255.255.255.0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interface brief; ping each subinterface gateway; verify tags and route entries.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Parent interface must be active and switch trunk must allow VLAN 10. Incorrect encapsulation binds gateway to the wrong VLAN.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Multilayer SVI routing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Access VLAN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L2 broadcast domain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SVI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VLAN-bound logical L3 interface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Routed uplink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L3 transit interface and next hop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no shutdown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SVI operational state depends on VLAN and active forwarding members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interfaces vlan 10; show ip route connected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Multilayer SVI routing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VLAN exists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Active member supports SVI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SVI receives gateway traffic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routing enables inter-VLAN forwarding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no shutdown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Multilayer SVI routing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address 10.10.10.1 255.255.255.0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no shutdown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Access VLAN · VLAN exists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SVI receives gateway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 routing enables inter-VLAN forwarding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Multilayer SVI routing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SVI operational state depends on VLAN and active forwarding members. A configured address is insufficient.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interfaces vlan 10; show ip route connected. Confirm SVI up/up and routes for both VLANs.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Routed uplink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Multilayer SVI routing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Access VLAN -&gt; Routed uplink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routing enables inter-VLAN forwarding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no shutdown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interfaces vlan 10; show ip route connected. Confirm SVI up/up and routes for both VLANs.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SVI operational state depends on VLAN and active forwarding members. A configured address is insufficient.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CDP neighbor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Cisco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Advertises local identity/port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CDP multicast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Link-local discovery transport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Cisco neighbor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Caches peer identity/port/platform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cdp neighbors detail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Port ID: Gi1/0/23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CDP reveals topology and should be constrained on untrusted 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Cross-check local port, peer port and actual cabling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CDP neighbor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advertises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 caches port/platform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Entry ages without refresh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Operator maps physical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cdp neighbors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Port ID: Gi1/0/23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CDP neighbor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cdp neighbors detail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Device ID: SW2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Interface: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Port ID: Gi1/0/23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Cisco device · Device advertises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Entry ages without refresh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Operator maps physical link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CDP neighbor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CDP reveals topology and should be constrained on untrusted ports. Management address can differ from data-path address.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Cross-check local port, peer port and actual cabling. Neighbor discovery does not prove routed application reachability.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cdp neighbors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Cisco neighbor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CDP neighbor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Cisco device -&gt; Cisco neighbor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cdp neighbors detail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Operator maps physical link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Port ID: Gi1/0/23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Cross-check local port, peer port and actual cabling. Neighbor discovery does not prove routed application reachability.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CDP reveals topology and should be constrained on untrusted ports. Management address can differ from data-path address.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LLDP interoperable discovery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Advertises chassis and 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LLDP TLVs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Mandatory/optional identity/capability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Non-Cisco peer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identity and expiry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lldp run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Chassis ID; Port ID; TTL; System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Absence may mean LLDP is disabled rather than cable failure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advertised capabilities and local/remote port IDs; use interface state as independent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LLDP interoperable discovery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Chassis and port TLVs identify peer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TTL controls cache lifetime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Optional TLVs describe capabilities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Receiver builds neighbor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lldp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Chassis ID; Port ID; TTL; System 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LLDP interoperable discovery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lldp run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lldp neighbors detail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Chassis ID; Port ID; TTL; System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switch · Chassis and port TLVs identify peer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Optional TLVs describe 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Receiver builds neighbor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LLDP interoperable discovery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Absence may mean LLDP is disabled rather than cable failure. LLDP uses link-local Ethernet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advertised capabilities and local/remote port IDs; use interface state as independent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lldp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Non-Cisco peer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LLDP interoperable discovery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switch -&gt; Non-Cisco peer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lldp run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Receiver builds neighbor view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Chassis ID; Port ID; TTL; System Name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advertised capabilities and local/remote port IDs; use interface state as independent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Absence may mean LLDP is disabled rather than cable failure. LLDP uses link-local Ethernet scope.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LACP channel negotiation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Member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Physical bundle candidates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LACP actor/partner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System ID, key and negotiation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Port-channel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Logical forwarding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mode trunk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Passive/passive does not initiate a LACP channel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etherchannel summary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LACP channel negotiation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Active side sends LACPDU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Partner agrees system/key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Compatible links bundle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Hash places flows on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mode trunk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LACP channel negotiation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channel-group 1 mode active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Port-channel1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mode trunk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Member interfaces · Active side sends LACPDU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Compatible links bundle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Hash places flows on 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LACP channel negotiation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Passive/passive does not initiate a LACP channel. Member speed, duplex and trunk parameters must be compatible.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etherchannel summary. Expect Po 1(SU) and bundled members marked P; investigate I or suspended members.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Port-channel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LACP channel negotiation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Member interfaces -&gt; Port-channel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range Gi1/0/1 - 2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Hash places flows on members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mode trunk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etherchannel summary. Expect Po 1(SU) and bundled members marked P; investigate I or suspended members.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Passive/passive does not initiate a LACP channel. Member speed, duplex and trunk parameters must be compatible.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EtherChannel load distribution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Flow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Fields that identify traffic flow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Hash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Maps fields to member index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Member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Carries selected flow's packets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port-channel load-balance src-dst-ip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 B -&gt; member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Two 1-Gb/s members do not make one TCP flow 2 Gb/s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per-member counters across multiple source/destination pairs and interpret aggregate capacity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EtherChannel load distribution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Switch extracts configured fields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Hash maps flow to member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Packets in flow stay ordered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Multiple flows can use different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port-channel load-balance src-dst-ip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Flow B -&gt; member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EtherChannel load distribution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port-channel load-balance src-dst-ip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Flow A -&gt; member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Flow B -&gt; member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Flow tuple · Switch extracts configured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Packets in flow stay ordered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Multiple flows can use different 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EtherChannel load distribution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 1-Gb/s members do not make one TCP flow 2 Gb/s. Hash collisions can skew utilization.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per-member counters across multiple source/destination pairs and interpret aggregate capacity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port-channel load-balance src-dst-ip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Member 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EtherChannel load distribution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Flow tuple -&gt; Member link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port-channel load-balance src-dst-ip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Multiple flows can use different members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Flow B -&gt; member 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per-member counters across multiple source/destination pairs and interpret aggregate capacity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Two 1-Gb/s members do not make one TCP flow 2 Gb/s. Hash collisions can skew utilization.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bridge election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Bridge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First bridge-ID election field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System ID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Per-VLAN bridge-ID extension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Bridge 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Tie-break identifier for equal 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VLAN10: SW1 priority 24576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SW1 becomes root with lower bridge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Unplanned root location can produce poor paths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spanning-tree vlan 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bridge election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Lowest bridge ID wins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Priority compares first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VLAN extension contributes 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Lowest MAC breaks equal-priority 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VLAN10: SW1 priority 24576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SW1 becomes root with lower bridge 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bridge election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VLAN10: SW1 priority 24576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SW2 priority 32768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SW1 becomes root with lower bridge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Bridge priority · Lowest bridge ID wins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VLAN extension contributes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Lowest MAC breaks equal-priority tie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bridge election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Unplanned root location can produce poor paths. Changing priority influences topology and can trigger reconvergence.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spanning-tree vlan 10. Root ID equals Bridge ID on root; compare priority plus VLAN system-ID extension.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VLAN10: SW1 priority 24576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Bridge MAC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bridge election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Bridge priority -&gt; Bridge MAC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VLAN10: SW1 priority 24576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Lowest MAC breaks equal-priority tie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SW1 becomes root with lower bridge ID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spanning-tree vlan 10. Root ID equals Bridge ID on root; compare priority plus VLAN system-ID extension.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Unplanned root location can produce poor paths. Changing priority influences topology and can trigger reconvergence.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and designated ports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Root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Lowest bridge ID and cost root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Non-root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Chooses its root port toward root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Shared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Elects segment's designated transmitter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SW2 root cost via Gi1/0/1 = 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Gi1/0/1 -&gt; root 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Root port selection uses accumulated path cost, not merely local port number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Annotate each link cost; show spanning-tree reveals root/designated/alternate roles and forwarding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and designated ports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Choose lowest root-path cost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Tie compares sender bridge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Next tie compares sender port 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Best transmitter becomes designated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SW2 root cost via Gi1/0/1 =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Gi1/0/1 -&gt; root 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STP root and designated ports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SW2 root cost via Gi1/0/1 = 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via Gi1/0/2 = 8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Gi1/0/1 -&gt; root 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Root bridge · Choose lowest root-path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Next tie compares sender port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transmitter becomes designated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STP root and designated ports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Root port selection uses accumulated path cost, not merely local port number. Alternate ports block loops.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Annotate each link cost; show spanning-tree reveals root/designated/alternate roles and forwarding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SW2 root cost via Gi1/0/1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Shared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STP root and designated ports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Root bridge -&gt; Shared segment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SW2 root cost via Gi1/0/1 = 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Best transmitter becomes designated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Gi1/0/1 -&gt; root port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Annotate each link cost; show spanning-tree reveals root/designated/alternate roles and forwarding state.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Root port selection uses accumulated path cost, not merely local port number. Alternate ports block loops.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Rapid PVST convergence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Root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Lowest-cost path to root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Alternate 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Ready alternative path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Point-to-point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Rapid proposal/agreement boundary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RSTP roles: root, designated, alternate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Per-VLAN tree: Rapid PVST+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Shared links and legacy STP neighbors can limit rapid 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spanning-tree summary and vlan detail; trace role changes after a controlled uplink interruption.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Rapid PVST convergence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Proposal advertises superior tree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Peer synchronizes other ports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Agreement permits rapid forwarding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Alternate replaces failed root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RSTP roles: root, designated, alternate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Per-VLAN tree: Rapid PVST+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Rapid PVST convergence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RSTP roles: root, designated, alternate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States: discarding, learning, forwarding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Per-VLAN tree: Rapid PVST+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Root port · Proposal advertises superior tree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Agreement permits rapid forwarding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Alternate replaces failed root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Rapid PVST convergence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Shared links and legacy STP neighbors can limit rapid convergence. Edge designation must be used only for endpoint-facing ports.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spanning-tree summary and vlan detail; trace role changes after a controlled uplink interruption.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RSTP roles: root, designated, alternate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Point-to-point 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Rapid PVST convergence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Root port -&gt; Point-to-point link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RSTP roles: root, designated, alternate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Alternate replaces failed root path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Per-VLAN tree: Rapid PVST+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spanning-tree summary and vlan detail; trace role changes after a controlled uplink interruption.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Shared links and legacy STP neighbors can limit rapid convergence. Edge designation must be used only for endpoint-facing ports.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PortFast and BPDU guard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Endpoint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Port intended for non-bridging host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Edge forwarding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Immediate edge forwarding behavior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BPDU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Unexpected BPDU admission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spanning-tree bpduguard enable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PortFast does not disable STP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interfaces status err-disabled; show logging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PortFast and BPDU guard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Edge port forwards immediately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BPDU arrives unexpectedly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Guard err-disables 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Recovery follows corrected attachment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spanning-tree bpduguard enable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PortFast and BPDU guard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spanning-tree portfast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spanning-tree bpduguard enable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Endpoint port · Edge port forwards immediately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Guard err-disables 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Recovery follows corrected attachment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PortFast and BPDU guard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PortFast does not disable STP. BPDU guard protects intended edge ports; switch attachment must be corrected before recovery.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interfaces status err-disabled; show logging. Identify bpduguard cause and restore only after removing the unintended bridge.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BPDU detector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PortFast and BPDU guard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Endpoint port -&gt; BPDU detector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Recovery follows corrected attachment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spanning-tree bpduguard enable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interfaces status err-disabled; show logging. Identify bpduguard cause and restore only after removing the unintended bridge.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PortFast does not disable STP. BPDU guard protects intended edge ports; switch attachment must be corrected before recovery.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 guard boundary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Designated access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Expected designated downstream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Superior BPDU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 of unauthorized superior root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Root-inconsistent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Protective port role/state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spanning-tree inconsistentports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place root guard where the root port is legitimately expected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root-inconsistent reason and root bridge remains authorized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 guard boundary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Downstream BPDU claims better root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Root guard rejects takeover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becomes root-inconsistent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recovers after superior BPDUs cease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spanning-tree inconsistentports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 guard boundary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spanning-tree guard root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spanning-tree inconsistentports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Designated access link · Downstream BPDU claims better root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becomes root-inconsistent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recovers after superior BPDUs cease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 guard boundary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place root guard where the root port is legitimately expected. It preserves root ownership, not every kind of loop.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root-inconsistent reason and root bridge remains authorized. Recovery is automatic after superior BPDUs stop.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Root-inconsistent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 guard boundary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Designated access link -&gt; Root-inconsistent state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Gi1/0/20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Port recovers after superior BPDUs cease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spanning-tree inconsistentports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Verify root-inconsistent reason and root bridge remains authorized. Recovery is automatic after superior BPDUs stop.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place root guard where the root port is legitimately expected. It preserves root ownership, not every kind of loop.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guard and BPDU filter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Non-designated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Root/alternate path depends on BPDUs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BPDU 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Periodic tree-control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Loop-inconsistent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Guarded state when evidence disappears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BPDU filter suppresses BPDUs: use cautiously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Interface-level BPDU filtering can effectively remove STP protection and cause loops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spanning-tree inconsistentports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guard and BPDU filter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Expected BPDUs disappear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Loop guard prevents unsafe forwarding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enters loop-inconsistent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BPDU reception permits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BPDU filter suppresses BPDUs: use cautiously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guard and BPDU filter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spanning-tree guard loop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BPDU filter suppresses BPDUs: use cautiously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Non-designated port · Expected BPDUs disappear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enters loop-inconsistent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BPDU reception permits recovery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guard and BPDU filter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Interface-level BPDU filtering can effectively remove STP protection and cause loops. Loop guard addresses missing BPDUs, not rogue superior roots.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spanning-tree inconsistentports. Distinguish loop-inconsistent from root-inconsistent and bpduguard err-disable.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Loop-inconsistent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guard and BPDU filter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Non-designated port -&gt; Loop-inconsistent state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BPDU reception permits recovery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BPDU filter suppresses BPDUs: use cautiously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spanning-tree inconsistentports. Distinguish loop-inconsistent from root-inconsistent and bpduguard err-disable.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Interface-level BPDU filtering can effectively remove STP protection and cause loops. Loop guard addresses missing BPDUs, not rogue superior roots.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modes and WLAN transport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Local-mode 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Centrally switched client data path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FlexConnect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Optional locally switched client path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WLC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WLAN configuration and control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mode: client data -&gt; WLC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Monitor mode: no client-serving WLAN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 mode affects data path and operation during WAN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 AP mode and switching policy; compare client gateway location with observed packet path.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modes and WLAN transport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Local AP tunnels central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FlexConnect can switch locally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WLC manages WLAN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Monitor-mode AP inspects 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mode: client data -&gt; WLC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Monitor mode: no client-serving WLAN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modes and WLAN transport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Local mode: client data -&gt; WLC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FlexConnect local: client data -&gt; local VLAN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Monitor mode: no client-serving WLAN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Local-mode AP · Local AP tunnels central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WLC manages WLAN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Monitor-mode AP inspects 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modes and WLAN transport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 mode affects data path and operation during WAN loss. A control connection does not guarantee correct client VLAN.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Identify AP mode and switching policy; compare client gateway location with observed packet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mode: client data -&gt; WLC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WLC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 modes and WLAN transport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Local-mode AP -&gt; WLC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mode: client data -&gt; WLC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Monitor-mode AP inspects RF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Monitor mode: no client-serving WLAN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Identify AP mode and switching policy; compare client gateway location with observed packet path.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 mode affects data path and operation during WAN loss. A control connection does not guarantee correct client VLAN.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WLAN GUI policy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SSID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SSID and authentication settings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Policy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VLAN, QoS and forwarding settings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VLAN/security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Associates WLAN with policy profile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Catalyst 9800 objects: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 Tag WLAN-&gt;Profile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visually correct SSID can map to a wrong policy/VLAN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WLAN, policy profile and AP tag together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WLAN GUI policy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WLAN defines SSID/security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Policy profile defines network 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Policy tag associates WLAN and 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 applies assigned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Catalyst 9800 objects: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Policy Tag WLAN-&gt;Profile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WLAN GUI policy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Catalyst 9800 objects: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WLAN ID + SSID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 Profile VLAN 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 Tag WLAN-&gt;Profile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SSID object · WLAN defines SSID/security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Policy tag associates WLAN and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 applies assigned 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WLAN GUI policy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visually correct SSID can map to a wrong policy/VLAN. Treat this as an object relationship, not a sequence of GUI clicks.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WLAN, policy profile and AP tag together. Client should receive VLAN 20 addressing and expected authorization.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Catalyst 9800 objects: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VLAN/security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WLAN GUI policy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SSID object -&gt; VLAN/security mapping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Catalyst 9800 objects: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 applies assigned tag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Policy Tag WLAN-&gt;Profile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WLAN, policy profile and AP tag together. Client should receive VLAN 20 addressing and expected authorization.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visually correct SSID can map to a wrong policy/VLAN. Treat this as an object relationship, not a sequence of GUI clicks.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management reachability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Authenticated management initiator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AP/WLC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Device policy/configuration endpoint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Cloud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Remote visibility and control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HTTPS TCP 443; SSH TCP 22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Cloud: outbound secure management connection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visibility depends on Internet and management connectivity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 management transport, role permission and audit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management reachability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Admin uses HTTPS/SSH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verifies credential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Management changes persistent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 records actor and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HTTPS TCP 443; SSH TCP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Cloud: outbound secure management connection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management reachability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HTTPS TCP 443; SSH TCP 22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Console: local out-of-band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Cloud: outbound secure management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Administrator · Admin uses HTTPS/SSH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Management changes persistent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Audit records actor and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management reachability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Cloud visibility depends on Internet and management connectivity. Telnet/HTTP expose management traffic; use authenticated encrypted methods.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Identify management transport, role permission and audit evidence. Read back the intended WLAN policy after a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HTTPS TCP 443; SSH TCP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Cloud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management reachability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Administrator -&gt; Cloud dashboard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HTTPS TCP 443; SSH TCP 22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Audit records actor and change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Cloud: outbound secure management connection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Identify management transport, role permission and audit evidence. Read back the intended WLAN policy after a change.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Cloud visibility depends on Internet and management connectivity. Telnet/HTTP expose management traffic; use authenticated encrypted methods.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3 LACP port-channel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Routed switch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Compatible no-switchport members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LACP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Negotiated logical routed link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Peer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Matching LACP and subnet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 address 10.0.0.1 255.255.255.252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mix L2 and L3 member configuration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etherchannel summary expects routed R flag and bundled P members; connected subnet attaches to Port-channel 1.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3 LACP port-channel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Physical members enter routed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LACP negotiates bundle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Port-channel owns L3 address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Routing sees one logical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 address 10.0.0.1 255.255.255.252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3 LACP port-channel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no switchport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channel-group 1 mode active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Port-channel1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no switchport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address 10.0.0.1 255.255.255.252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Routed switch interfaces · Physical members enter routed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Port-channel owns L3 address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Routing sees one logical link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3 LACP port-channel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mix L2 and L3 member configuration. Address the logical port-channel, not each bundled member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etherchannel summary expects routed R flag and bundled P members; connected subnet attaches to Port-channel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range Gi1/0/1 - 2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Peer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3 LACP port-channel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Routed switch interfaces -&gt; Peer router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range Gi1/0/1 - 2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Routing sees one logical link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 address 10.0.0.1 255.255.255.252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etherchannel summary expects routed R flag and bundled P members; connected subnet attaches to Port-channel 1.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mix L2 and L3 member configuration. Address the logical port-channel, not each bundled member independently.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Default and normal-range VLAN contracts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Default VLAN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Initial default switched access domain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Normal VLAN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Normal-ID configuration and existence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Access-port membership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Ingress classification into selected VLAN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Normal range VLAN 1-1005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vlan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confuse default VLAN 1 with an arbitrary native VLAN on a trunk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VLAN existence, access membership and operational trunk lists; explicitly distinguish default, access, native and management VLAN roles.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Default and normal-range VLAN contracts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Default access membership starts in VLAN 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Normal-range VLAN IDs are allocated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binds selected VLAN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Trunk forwards only allowed active VLANs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Normal range VLAN 1-1005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vlan brief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Default and normal-range VLAN contracts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Normal range VLAN 1-1005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VLAN 1002-1005 reserved legacy default VLANs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User example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vlan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Default VLAN 1 · Default access membership starts in VLAN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 binds selected VLAN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Trunk forwards only allowed active VLANs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Default and normal-range VLAN contracts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confuse default VLAN 1 with an arbitrary native VLAN on a trunk. Reserved legacy VLANs are not ordinary user allocations.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VLAN existence, access membership and operational trunk lists; explicitly distinguish default, access, native and management VLAN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Normal range VLAN 1-1005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Access-port membership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Default and normal-range VLAN contracts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Default VLAN 1 -&gt; Access-port membership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Normal range VLAN 1-1005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Trunk forwards only allowed active VLANs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vlan brief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VLAN existence, access membership and operational trunk lists; explicitly distinguish default, access, native and management VLAN roles.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confuse default VLAN 1 with an arbitrary native VLAN on a trunk. Reserved legacy VLANs are not ordinary user allocations.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and WLC physical attachments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Local-mode AP switchport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Management and centralized-tunnel endpoint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FlexConnect AP switchport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Management plus locally switched VLAN boundary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WLC switch attachment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Management/client VLAN attachment to wired network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Local-mode AP: commonly access management VLAN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Controller VLAN mapping must match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apply one universal access/trunk rule to every AP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AP mode, management addressing, trunk allowed/native VLANs, WLC attachment and client gateway location.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and WLC physical attachments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 management establishes IP reachability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Local-mode client data uses tunnel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Local switching emits VLAN-tagged client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WLC uplinks carry mapped client/management networks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Local-mode AP: commonly access management VLAN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Controller VLAN mapping must match network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and WLC physical attachments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Local-mode AP: commonly access management VLAN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FlexConnect local-switch AP: trunk for client VLANs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WLC: configured trunk/LAG attachment per platform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Controller VLAN mapping must match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Local-mode AP switchport · AP management establishes IP reachability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switching emits VLAN-tagged client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WLC uplinks carry mapped client/management networks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 and WLC physical attachments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apply one universal access/trunk rule to every AP mode. WLC aggregation and AP tag behavior depend on platform and switching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AP mode, management addressing, trunk allowed/native VLANs, WLC attachment and client gateway location.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Local-mode AP: commonly access management VLAN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WLC switch attachment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 and WLC physical attachments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Local-mode AP switchport -&gt; WLC switch attachment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Local-mode AP: commonly access management VLAN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WLC uplinks carry mapped client/management networks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Controller VLAN mapping must match network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AP mode, management addressing, trunk allowed/native VLANs, WLC attachment and client gateway location.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apply one universal access/trunk rule to every AP mode. WLC aggregation and AP tag behavior depend on platform and switching design.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WLAN QoS and advanced-policy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WLAN security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Authentication, cipher and SSID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Policy QoS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Class/marking/forwarding policy contract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Advanced client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Platform-specific client session/roaming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Inspect actual WLC fields: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Advanced/session/roaming controls depend on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GUI labels and feature availability vary across WLC versions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current controller GUI object relationships, security, QoS and advanced settings; corroborate client VLAN/authentication and relevant policy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WLAN QoS and advanced-policy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WLAN selects authentication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Policy maps VLAN and QoS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Advanced settings influence client session/roaming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Observed client status verifies applied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Inspect actual WLC fields: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Advanced/session/roaming controls depend on 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WLAN QoS and advanced-policy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Inspect actual WLC fields: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WLAN ID/SSID + WPA2PSK/AES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 VLAN + QoS profile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Advanced/session/roaming controls depend on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WLAN security profile · WLAN selects 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Advanced settings influence client session/roaming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Observed client status verifies applied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WLAN QoS and advanced-policy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GUI labels and feature availability vary across WLC versions. A policy saved in one profile must be associated with the AP/WLAN before affecting clients.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current controller GUI object relationships, security, QoS and advanced settings; corroborate client VLAN/authentication and relevant policy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Inspect actual WLC fields: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Advanced client 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NETWORK ACCESS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WLAN QoS and advanced-policy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WLAN security profile -&gt; Advanced client behavior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Inspect actual WLC fields: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Observed client status verifies applied policy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Advanced/session/roaming controls depend on release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current controller GUI object relationships, security, QoS and advanced settings; corroborate client VLAN/authentication and relevant policy state.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GUI labels and feature availability vary across WLC versions. A policy saved in one profile must be associated with the AP/WLAN before affecting clients.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Activities 3-5: VLAN paths, STP resilience and wireless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25%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IP Connectivity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Route-table field interpretation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Destination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Subnet match and prefix length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Next 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Route gateway resolution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Outgoing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Actual packet egress attachment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20=OSPF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Distance compares sources for the same prefix; it does not override longest prefix match for a packet.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route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Route-table field interpretation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Routing source proposes 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Preference selects installed 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FIB stores forwarding result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 uses installed longest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20=OSPF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Route-table field interpretation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110=administrative distance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20=OSPF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Destination prefix · Routing source proposes prefix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FIB stores forwarding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Packet uses installed longest 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Route-table field interpretation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Distance compares sources for the same prefix; it does not override longest prefix match for a packet.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route. Decode code, prefix, distance, metric, next hop and interface without conflating their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Outgoing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Route-table field interpretation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Destination prefix -&gt; Outgoing 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 10.20.0.0/24 [110/20] via 10.0.0.2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Packet uses installed longest match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20=OSPF metric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route. Decode code, prefix, distance, metric, next hop and interface without conflating their roles.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Distance compares sources for the same prefix; it does not override longest prefix match for a packet.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Longest-prefix matching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Destination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Packet address to be matched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Candidate prefixes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installed matching route entries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FIB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Highest-prefix-length forwarding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10.20.0.0/16 via R2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Destination 10.20.1.50 -&gt; R3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less specific route with lower distance loses to an installed more specific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List every matching prefix and choose /24 over /16 and /0; verify using destination-specific route lookup.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Longest-prefix matching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Compare matching prefixes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Select highest prefix length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Resolve next hop/interface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Forward packet or drop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10.20.0.0/16 via 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Destination 10.20.1.50 -&gt; R3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Longest-prefix matching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10.20.0.0/16 via R2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10.20.1.0/24 via R3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Destination 10.20.1.50 -&gt; R3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Destination IP · Compare matching prefixes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Resolve next hop/interface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Forward packet or drop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Longest-prefix matching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less specific route with lower distance loses to an installed more specific match. Do not sort routes by metric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List every matching prefix and choose /24 over /16 and /0; verify using destination-specific route lookup.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10.20.0.0/16 via 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FIB lookup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Longest-prefix matching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Destination IP -&gt; FIB lookup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10.20.0.0/16 via R2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Forward packet or drop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Destination 10.20.1.50 -&gt; R3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List every matching prefix and choose /24 over /16 and /0; verify using destination-specific route lookup.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less specific route with lower distance loses to an installed more specific match. Do not sort routes by metric alone.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Administrative distance selection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Static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Candidate source with configured distance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OSPF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Candidate source with protocol distance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RIB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Selects best source for same prefix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Same prefix 10.20.0.0/24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Static installs if valid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Distance is locally significant and not a bandwidth or hop-count metric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route 10.20.0.0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Administrative distance selection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Sources propose same 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Lowest distance wins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Selected source enters RIB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Backup source remains candidate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Same prefix 10.20.0.0/24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Static installs if valid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Administrative distance selection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Same prefix 10.20.0.0/24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Static AD 1 vs OSPF AD 110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Static installs if valid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Static source · Sources propose same prefix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Selected source enters RIB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Backup source remains candidate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Administrative distance selection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Distance is locally significant and not a bandwidth or hop-count metric. A static route can suppress a dynamic route.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route 10.20.0.0. Change no forwarding policy until next-hop validity and exact-prefix equality are established.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Same prefix 10.20.0.0/24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RIB selector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Administrative distance selection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Static source -&gt; RIB selector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Same prefix 10.20.0.0/24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Backup source remains candidate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Static installs if valid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 10.20.0.0. Change no forwarding policy until next-hop validity and exact-prefix equality are established.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Distance is locally significant and not a bandwidth or hop-count metric. A static route can suppress a dynamic route.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comparison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Protocol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Eligible same-protocol paths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Metric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Protocol-specific path ranking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Selected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Installed best or equal-cost next hop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OSPF cost 20 vs cost 30 -&gt;20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Metrics across protocols are not directly comparable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OSPF cost and RIP hops measure different things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 why metric 20 from OSPF cannot be compared numerically with RIP metric 2 to select a route.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comparison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Same protocol evaluates candidates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Metric ranks eligible paths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Lowest metric installs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Equal metrics may permit ECMP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OSPF cost 20 vs cost 30 -&gt;20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Metrics across protocols are not directly comparable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comparison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OSPF cost 20 vs cost 30 -&gt;20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RIP hop 2 vs hop 3 -&gt;2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Metrics across protocols are not directly comparable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Protocol candidates · Same protocol evaluates candidates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Lowest metric installs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Equal metrics may permit ECMP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comparison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OSPF cost and RIP hops measure different things. Administrative distance selects source before protocol-specific metrics decide paths.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Explain why metric 20 from OSPF cannot be compared numerically with RIP metric 2 to select a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OSPF cost 20 vs cost 30 -&gt;20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Selected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Metric comparison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Protocol candidates -&gt; Selected path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OSPF cost 20 vs cost 30 -&gt;20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Equal metrics may permit ECMP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Metrics across protocols are not directly comparable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Explain why metric 20 from OSPF cannot be compared numerically with RIP metric 2 to select a route.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OSPF cost and RIP hops measure different things. Administrative distance selects source before protocol-specific metrics decide paths.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and local routes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Interface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Configured local address and mask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Connected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Reachable directly attached subnet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Local host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 router destination host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 10.10.10.0/24 is directly connected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Outgoing interface Vlan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shutdown interface removes connected route eligibility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interface brief; show ip route connected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and local routes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becomes up/up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Connected subnet enters RIB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Own address enters local host route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can forward or terminate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 10.10.10.0/24 is directly connected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Outgoing interface Vlan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and local routes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 10.10.10.0/24 is directly connected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 10.10.10.1/32 is directly connected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Outgoing interface Vlan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Interface prefix · Interface becomes up/up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Own address enters local host 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can forward or terminate traffic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and local routes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shutdown interface removes connected route eligibility. The local /32 identifies the router's own address, not all hosts.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interface brief; show ip route connected. Relate interface state to C and L entries.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 10.10.10.0/24 is directly connected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Local host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and local routes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prefix -&gt; Local host route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 10.10.10.0/24 is directly connected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can forward or terminate traffic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Outgoing interface Vlan 10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interface brief; show ip route connected. Relate interface state to C and L entries.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shutdown interface removes connected route eligibility. The local /32 identifies the router's own address, not all hosts.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next-hop recursion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Static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Network to reach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Next-hop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Gateway requiring recursive lookup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Connected adjacency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Usable on-link forwarding neighbor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Next hop resolves Gi0/0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Recursive resolution must terminate in a usable adjacency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route 10.0.0.2; show ip arp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next-hop recursion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RIB receives static 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Resolve next hop through another 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Find outgoing interface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ARP resolves on-link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Next hop resolves Gi0/0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next-hop recursion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route 10.20.0.0 255.255.255.0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10.0.0.0/30 connected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Next hop resolves Gi0/0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Static prefix · RIB receives static route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Find outgoing 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ARP resolves on-link 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next-hop recursion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Recursive resolution must terminate in a usable adjacency. A next hop that is itself unreachable invalidates forwarding.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route 10.0.0.2; show ip arp. Verify the static destination and the recursive next-hop route independently.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Connected adjacency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next-hop recursion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Static prefix -&gt; Connected adjacency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10.20.0.0 255.255.255.0 10.0.0.2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ARP resolves on-link gateway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Next hop resolves Gi0/0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 10.0.0.2; show ip arp. Verify the static destination and the recursive next-hop route independently.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Recursive resolution must terminate in a usable adjacency. A next hop that is itself unreachable invalidates forwarding.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Fully specified static routes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Destination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Network being forwarded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Next 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Explicit gateway IPv4 address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Exit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Explicit local egress attachment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Gi0/0 10.0.0.2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Interface-only static routes on Ethernet can cause ARP for many destinations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Confirm next-hop adjacency and interface state; compare ARP entries before and after fully specified configuration.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Fully specified static routes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 identifies interface and 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ARP targets gateway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Ethernet frame reaches neighbor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 routes onward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Gi0/0 10.0.0.2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 route 10.20.0.0 255.255.255.0 Gi0/0 10.0.0.2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Fully specified static routes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route 10.20.0.0 255.255.255.0 Gi0/0 10.0.0.2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Destination prefix · Route identifies interface and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Ethernet frame reaches neighbor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Neighbor routes onward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Fully specified static routes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Interface-only static routes on Ethernet can cause ARP for many destinations. Fully specified routes avoid ambiguous neighbor resolution.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Confirm next-hop adjacency and interface state; compare ARP entries before and after fully specified configuration.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Gi0/0 10.0.0.2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Exit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Fully specified static routes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Destination prefix -&gt; Exit 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10.20.0.0 255.255.255.0 Gi0/0 10.0.0.2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Neighbor routes onward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10.20.0.0 255.255.255.0 Gi0/0 10.0.0.2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Confirm next-hop adjacency and interface state; compare ARP entries before and after fully specified configuration.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Interface-only static routes on Ethernet can cause ARP for many destinations. Fully specified routes avoid ambiguous neighbor resolution.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IPv4 routing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Unmatched destination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 installed specific prefix match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Default prefix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Catch-all 0.0.0.0/0 entry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Upstream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Gateway of last resort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0.0.0.0 0.0.0.0 203.0.113.1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Gateway of last resort 203.0.113.1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default route is not proof the upstream can reach the destination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route 0.0.0.0; traceroute target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IPv4 routing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more-specific prefix matches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0.0.0.0/0 matches every IPv4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Resolve upstream next hop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Send toward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0.0.0.0 0.0.0.0 203.0.113.1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Gateway of last resort 203.0.113.1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IPv4 routing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route 0.0.0.0 0.0.0.0 203.0.113.1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Gateway of last resort 203.0.113.1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Unmatched destination · No more-specific prefix matches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Resolve upstream next hop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Send toward provider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IPv4 routing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default route is not proof the upstream can reach the destination. Avoid loops where two routers point defaults at one another.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route 0.0.0.0; traceroute target. Identify next-hop loop or upstream policy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0.0.0.0 0.0.0.0 203.0.113.1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Upstream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IPv4 routing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Unmatched destination -&gt; Upstream router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0.0.0.0 0.0.0.0 203.0.113.1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Send toward provider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Gateway of last resort 203.0.113.1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 0.0.0.0; traceroute target. Identify next-hop loop or upstream policy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default route is not proof the upstream can reach the destination. Avoid loops where two routers point defaults at one another.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Host-specific static routes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Single target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IPv4 host destination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Host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More-specific /32 forwarding entry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Preferred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Special-case egress next hop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192.0.2.50 255.255.255.255 10.0.0.6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Other 192.0.2.x uses /24 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host route can be used for precise control but accumulates maintenance complexity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destination .50 with .51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Host-specific static routes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Destination matches /32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More-specific route overrides aggregate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Gateway resolves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Only target follows special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192.0.2.50 255.255.255.255 10.0.0.6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Other 192.0.2.x uses /24 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Host-specific static routes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route 192.0.2.50 255.255.255.255 10.0.0.6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Other 192.0.2.x uses /24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Single target IP · Destination matches /32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Gateway resolves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Only target follows special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Host-specific static routes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host route can be used for precise control but accumulates maintenance complexity. It can conceal a bad aggregate path.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destination .50 with .51. Only .50 should use the /32 next hop.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192.0.2.50 255.255.255.255 10.0.0.6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Preferred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Host-specific static routes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Single target IP -&gt; Preferred gateway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192.0.2.50 255.255.255.255 10.0.0.6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Only target follows special path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Other 192.0.2.x uses /24 route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destination .50 with .51. Only .50 should use the /32 next hop.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host route can be used for precise control but accumulates maintenance complexity. It can conceal a bad aggregate path.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Floating static backup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Installed preferred routing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Higher-distance static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backup with worse distance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Failover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Secondary egress adjacency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10.0.0.6 200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Backup AD 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Floating distance must exceed primary source distance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route before/after a controlled primary-link failure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Floating static backup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Primary source installs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Floating static remains absent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Primary disappears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Backup static becomes best valid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10.0.0.6 200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Backup AD 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Floating static backup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route 10.20.0.0 255.255.255.0 10.0.0.6 200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OSPF primary AD 110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Backup AD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Primary route · Primary source installs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Primary disappears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Backup static becomes best valid route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Floating static backup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Floating distance must exceed primary source distance. Route withdrawal, not an application outage alone, triggers this basic backup.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route before/after a controlled primary-link failure. Record route source, next hop and recovery timing.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route 10.20.0.0 255.255.255.0 10.0.0.6 200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Failover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Floating static backup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Primary route -&gt; Failover path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route 10.20.0.0 255.255.255.0 10.0.0.6 200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Backup static becomes best valid route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Backup AD 200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route before/after a controlled primary-link failure. Record route source, next hop and recovery timing.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Floating distance must exceed primary source distance. Route withdrawal, not an application outage alone, triggers this basic backup.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static-route scope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IPv6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IPv6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Link-local next 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Same-link scoped gateway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Outgoing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Required local link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unicast-routing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route 2001:db8:20::/64 Gi0/0 fe80::2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Link-local addresses can repeat on different links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ipv 6 route; show ipv 6 neighbors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static-route scope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Destination matches IPv6 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Link-local gateway is interface-scoped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 discovery resolves MAC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 forwards on selected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unicast-routing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ipv 6 route 2001:db8:20::/64 Gi0/0 fe80::2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static-route scope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unicast-routing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route 2001:db8:20::/64 Gi0/0 fe80::2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IPv6 prefix · Destination matches IPv6 prefix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Neighbor discovery resolves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Packet forwards on selected link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static-route scope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Link-local addresses can repeat on different links. The route must specify the interface for a link-local next hop.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ipv 6 route; show ipv 6 neighbors. Prove gateway fe80::2 is reachable on the intended Gi0/0.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unicast-routing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Outgoing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static-route scope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IPv6 prefix -&gt; Outgoing 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unicast-routing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Packet forwards on selected link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route 2001:db8:20::/64 Gi0/0 fe80::2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ipv 6 route; show ipv 6 neighbors. Prove gateway fe80::2 is reachable on the intended Gi0/0.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Link-local addresses can repeat on different links. The route must specify the interface for a link-local next hop.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default and host routes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Default ::/0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Catch-all unmatched IPv6 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Host /128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IPv6 endpoint /128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Global next 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Routed gateway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route ::/0 2001:db8:0::2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route 2001:db8:20::50/128 2001:db8:0::6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apply IPv4 broadcast assumptions to IPv6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ipv 6 route target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default and host routes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IPv6 destination lookup runs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Most specific installed prefix wins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Default catches unmatched traffic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ND resolves next 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route ::/0 2001:db8:0::2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ipv 6 route 2001:db8:20::50/128 2001:db8:0::6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default and host routes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route ::/0 2001:db8:0::2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route 2001:db8:20::50/128 2001:db8:0::6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Default ::/0 · IPv6 destination lookup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Default catches unmatched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ND resolves next 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default and host routes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apply IPv4 broadcast assumptions to IPv6. /128 host routes can override a routed /64 subnet.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ipv 6 route target. Compare /128, /64 and /0 matching behavior.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route ::/0 2001:db8:0::2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Global next hop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default and host routes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Default ::/0 -&gt; Global next hop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route ::/0 2001:db8:0::2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ND resolves next hop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route 2001:db8:20::50/128 2001:db8:0::6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ipv 6 route target. Compare /128, /64 and /0 matching behavior.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apply IPv4 broadcast assumptions to IPv6. /128 host routes can override a routed /64 subnet.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process and area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OSPF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protocol instance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Area 0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Topology and LSDB flooding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Neighbor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exchanging link-state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network 10.10.10.0 0.0.0.255 area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Process ID is locally significant; area ID must match on the 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interface brief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process and area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Process selects interfaces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Interfaces send Hellos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Same-area neighbors form adjacency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LSDB supports shortest-path 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network 10.10.10.0 0.0.0.255 area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process and area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router ospf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network 10.0.0.0 0.0.0.3 area 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network 10.10.10.0 0.0.0.255 area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OSPF process · Process selects interfaces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Same-area neighbors form adjacency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LSDB supports shortest-path calculation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process and area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Process ID is locally significant; area ID must match on the link. Wildcard errors can select unintended interfaces.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interface brief. Confirm only intended interfaces and area 0 membership.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Neighbor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process and area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OSPF process -&gt; Neighbor router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ospf 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LSDB supports shortest-path calculation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network 10.10.10.0 0.0.0.255 area 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interface brief. Confirm only intended interfaces and area 0 membership.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Process ID is locally significant; area ID must match on the link. Wildcard errors can select unintended interfaces.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interface activation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Interface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Connected subnet and protocol activation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OSPF area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Interface belongs to specific area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Passive setting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Suppresses Hellos but still advertises subnet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passive-interface Gi0/1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passive interface advertises its subnet but does not form neighbors there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protocols; show ip ospf interface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interface activation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Interface-level area activates OSPF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Hello is sent if not passive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 exchanges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Connected prefix is advertised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passive-interface Gi0/1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interface activation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ospf 1 area 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router ospf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passive-interface Gi0/1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Interface address · Interface-level area activates OSPF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Neighbor exchanges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Connected prefix is advertised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interface activation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passive interface advertises its subnet but does not form neighbors there. Use passive access segments to reduce unwanted adjacencies.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protocols; show ip ospf interface. Distinguish advertising a subnet from sending Hello packets.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Passive setting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interface activation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address -&gt; Passive setting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Gi0/0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Connected prefix is advertised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passive-interface Gi0/1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protocols; show ip ospf interface. Distinguish advertising a subnet from sending Hello packets.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passive interface advertises its subnet but does not form neighbors there. Use passive access segments to reduce unwanted adjacencies.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router ID selection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Configured router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Highest-precedence explicit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Loopback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Preferred automatic-ID address class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Physical 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Fallback automatic-ID address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ip ospf: Routing Process ID1.1.1.1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Duplicate router IDs disrupt LSDB/neighbor operation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show ip ospf on all routers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router ID selection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Explicit router ID has precedence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Otherwise select highest loopback IPv4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Otherwise highest active physical IPv4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Process retains selected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ip ospf: Routing Process ID 1.1.1.1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router ID selection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router ospf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router-id 1.1.1.1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ip ospf: Routing Process ID1.1.1.1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Configured router ID · Explicit router ID has precedence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Otherwise highest active physical IPv4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Process retains selected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router ID selection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Duplicate router IDs disrupt LSDB/neighbor operation. A change may require process restart under a maintenance plan.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show ip ospf on all routers. Router ID need not be a reachable data-path address.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router ospf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Physical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router ID selection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Configured router ID -&gt; Physical address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ospf 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Process retains selected ID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ospf: Routing Process ID 1.1.1.1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show ip ospf on all routers. Router ID need not be a reachable data-path address.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Duplicate router IDs disrupt LSDB/neighbor operation. A change may require process restart under a maintenance plan.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Hello compatibility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Hello 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Discovery of peer and capabilities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Area/timers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Compatibility fields for adjacency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Neighbor receiver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Checks and records neighbor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Hello 10 s; Dead 40 s (broadcast default)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Authentication and area options compatible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Timer/area/authentication mismatches prevent adjacency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neighbor; inspect interface timers and MTU on both sides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Hello compatibility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Hello lists router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Receiver checks link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Two-way confirms mutual discovery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Adjacency progresses if eligible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Hello 10 s; Dead 40 s (broadcast default)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Authentication and area options compatible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Hello compatibility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Hello 10 s; Dead 40 s (broadcast default)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Area 0; subnet/mask compatible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Authentication and area options compatible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Hello packet · Hello lists router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Two-way confirms mutual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Adjacency progresses if 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Hello compatibility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Timer/area/authentication mismatches prevent adjacency. MTU mismatch commonly stalls ExStart/Exchange after initial discovery.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neighbor; inspect interface timers and MTU on both sides. Diagnose stage rather than guessing.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Hello 10 s; Dead 40 s (broadcast default)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Neighbor 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Hello compatibility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Hello packet -&gt; Neighbor receiver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Hello 10 s; Dead 40 s (broadcast default)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Adjacency progresses if eligible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Authentication and area options compatible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neighbor; inspect interface timers and MTU on both sides. Diagnose stage rather than guessing.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Timer/area/authentication mismatches prevent adjacency. MTU mismatch commonly stalls ExStart/Exchange after initial discovery.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neighbor state exchange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Neighbor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Mutual discovery/adjacency phase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Database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Database summary negotiation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LSA exchange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Missing advertisement synchronization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Down -&gt; Init -&gt; 2-Way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Broadcast DROTHER pairs may remain 2-Way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2-Way is not always a failure on broadcast networks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Correlate neighbor role with state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neighbor state exchange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Down-&gt;Init sees peer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2-Way confirms self listed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ExStart/Exchange negotiate database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Loading-&gt;Full synchronizes LSDB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Down -&gt; Init -&gt; 2-Way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Broadcast DROTHER pairs may remain 2-Way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neighbor state exchange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Down -&gt; Init -&gt; 2-Way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ExStart -&gt; Exchange -&gt; Loading -&gt; Full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Broadcast DROTHER pairs may remain 2-Way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Neighbor state · Down-&gt;Init sees peer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ExStart/Exchange negotiate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Loading-&gt;Full synchronizes LSDB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neighbor state exchange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2-Way is not always a failure on broadcast networks. Full is expected to DR/BDR and on point-to-point peers.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Correlate neighbor role with state. A stuck ExStart differs from legitimate DROTHER 2-Way.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Down -&gt; Init -&gt; 2-Way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LSA exchange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neighbor state exchange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Neighbor state -&gt; LSA exchange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Down -&gt; Init -&gt; 2-Way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Loading-&gt;Full synchronizes LSDB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Broadcast DROTHER pairs may remain 2-Way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Correlate neighbor role with state. A stuck ExStart differs from legitimate DROTHER 2-Way.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2-Way is not always a failure on broadcast networks. Full is expected to DR/BDR and on point-to-point peers.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point-to-point operation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Router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protocol endpoint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Single peer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Only remote protocol endpoint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Router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Remote link-state exchange participant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ip ospf neighbor: FULL/-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Network type must be compatible with topology and peer 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interface verifies POINT_TO_POINT; neighbor should show FULL/- rather than FULL/DR.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point-to-point operation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Point-to-point Hellos discover peer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DR/BDR election occurs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Peers synchronize LSDB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reach Full adjacency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ip ospf neighbor: FULL/-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point-to-point operation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ospf network point-to-point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ip ospf neighbor: FULL/-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Router A · Point-to-point Hellos discover peer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Peers synchronize LSDB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reach Full adjacency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point-to-point operation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Network type must be compatible with topology and peer settings. Do not expect DR/BDR roles on point-to-point links.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interface verifies POINT_TO_POINT; neighbor should show FULL/- rather than FULL/DR.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Router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point-to-point operation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Router A -&gt; Router 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Gi0/0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Both reach Full adjacency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neighbor: FULL/-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interface verifies POINT_TO_POINT; neighbor should show FULL/- rather than FULL/DR.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Network type must be compatible with topology and peer settings. Do not expect DR/BDR roles on point-to-point links.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DR and BDR election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Broadcast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Multiaccess neighbor discovery scope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Eligible routers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Priority/RID candidates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DR/BDR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Database exchange coordinators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R1 priority 100 RID 1.1.1.1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Priority0: ineligible for DR/BDR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later higher-priority router does not automatically replace an established DR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interface and neighbor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DR and BDR election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Highest interface priority wins DR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ID breaks tie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BDR backs up DR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Existing elected DR is nonpreemptive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R1 priority 100 RID 1.1.1.1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Priority0: ineligible for DR/BDR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DR and BDR election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R1 priority 100 RID 1.1.1.1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R2 priority 50 RID 2.2.2.2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Priority0: ineligible for DR/BDR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Broadcast segment · Highest interface priority wins DR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BDR backs up DR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Existing elected DR is nonpreemptive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DR and BDR election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later higher-priority router does not automatically replace an established DR. Election timing affects observed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interface and neighbor. Record priorities and election history before claiming the highest RID must be current DR.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R1 priority 100 RID 1.1.1.1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DR/BDR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DR and BDR election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Broadcast segment -&gt; DR/BDR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R1 priority 100 RID 1.1.1.1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Existing elected DR is nonpreemptive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Priority0: ineligible for DR/BDR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interface and neighbor. Record priorities and election history before claiming the highest RID must be current DR.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later higher-priority router does not automatically replace an established DR. Election timing affects observed results.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cost calculation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Reference 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Numerator in local cost formula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Interface bandwidth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Denominator or configured interface cost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Path sum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Accumulated route 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100 Mb/s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 Gb/s link also cost 1 at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Default reference does not distinguish fast links well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interface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cost calculation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Reference bandwidth divides by link bandwidth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cost has minimum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Costs sum across path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Lowest total wins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100 Mb/s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1 Gb/s link also cost 1 at default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cost calculation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Reference 100 Mb/s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100 Mb/s link cost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 Mb/s link cost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 Gb/s link also cost 1 at 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Reference bandwidth · Reference bandwidth divides by link bandwidth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Costs sum across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Lowest total wins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cost calculation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Default reference does not distinguish fast links well. Apply a consistent reference-bandwidth policy across routers.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interface. Compare stated bandwidth and configured cost with the installed route metric.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100 Mb/s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Path sum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cost calculation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Reference bandwidth -&gt; Path sum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Reference 100 Mb/s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Lowest total wins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 Gb/s link also cost 1 at default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interface. Compare stated bandwidth and configured cost with the installed route metric.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Default reference does not distinguish fast links well. Apply a consistent reference-bandwidth policy across routers.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LSA and SPF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Link-state advertisement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Describes topology and prefix 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Area LSDB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Shared area link-state information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SPF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Locally rooted shortest-path calculation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LSDB: router ID + links + costs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Result: next hop for each prefix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Same LSDB does not mean identical next hops because each router roots SPF at itself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ospf database and show ip route ospf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LSA and SPF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Router describes topology in LSAs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Neighbors flood changes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Area databases synchronize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router computes its own shortest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LSDB: router ID + links +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Result: next hop for each prefix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LSA and SPF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LSDB: router ID + links + costs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SPF root: local router ID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Result: next hop for each prefix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Link-state advertisement · Router describes topology in LSAs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Area databases synchronize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router computes its own shortest tree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LSA and SPF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Same LSDB does not mean identical next hops because each router roots SPF at itself. Link-state is not distance-vector rumor.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ospf database and show ip route ospf. Connect LSDB topology to local forwarding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LSDB: router ID + links +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SPF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 LSA and SPF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Link-state advertisement -&gt; SPF tree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LSDB: router ID + links + costs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Each router computes its own shortest tree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Result: next hop for each prefix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ospf database and show ip route ospf. Connect LSDB topology to local forwarding result.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Same LSDB does not mean identical next hops because each router roots SPF at itself. Link-state is not distance-vector rumor.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failure diagnosis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Physical adjacency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Up/up and address prerequisites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OSPF neighbor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ID, role and Full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Destination prefix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Advertised/installed remote subnet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up/up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Likely interface not selected into OSPF, interface down, or wrong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Full neighbor alone does not prove every needed subnet is advertised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show ip ospf neighbor, database and route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failure diagnosis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Link state checked first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Hello/adjacency state checked 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LSDB checked for prefix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RIB verifies selected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up/up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Likely interface not selected into OSPF, interface down, or wrong area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failure diagnosis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up/up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Neighbor FULL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Prefix absent from LSDB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Likely interface not selected into OSPF, interface down, or wrong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Physical adjacency · Link state checked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LSDB checked for prefix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RIB verifies selected route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failure diagnosis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Full neighbor alone does not prove every needed subnet is advertised. Diagnose missing route separately from neighbor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show ip ospf neighbor, database and route. Record one observation per layer and test the specific hypothesis.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up/up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Destination prefix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failure diagnosis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Physical adjacency -&gt; Destination prefix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up/up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RIB verifies selected route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Likely interface not selected into OSPF, interface down, or wrong area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Use show ip ospf neighbor, database and route. Record one observation per layer and test the specific hypothesis.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Full neighbor alone does not prove every needed subnet is advertised. Diagnose missing route separately from neighbor state.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Equal-cost multipath forwarding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Equal OSPF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Same-prefix paths with equal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FIB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Chooses path from eligible next hops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Outgoing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Carry different eligible 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equal next hops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Packet or flow distribution depends on platform forwarding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installed next-hop count and interface counter deltas across several flows; do not infer per-flow doubling.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Equal-cost multipath forwarding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Same-prefix equal metrics qualify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RIB installs multiple next hops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FIB distributes eligible flows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flow follows hash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Two equal next hops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Equal-cost multipath forwarding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                   via 10.0.0.6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Two equal next hops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Equal OSPF routes · Same-prefix equal metrics qualify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FIB distributes eligible 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flow follows hash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Equal-cost multipath forwarding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Packet or flow distribution depends on platform forwarding mode. Equal cost does not guarantee equal measured utilization.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installed next-hop count and interface counter deltas across several flows; do not infer per-flow doubling.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 10.20.0.0/24 [110/20] via 10.0.0.2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Outgoing links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Equal-cost multipath forwarding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Equal OSPF routes -&gt; Outgoing links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 10.20.0.0/24 [110/20] via 10.0.0.2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Each flow follows hash decision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Two equal next hops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installed next-hop count and interface counter deltas across several flows; do not infer per-flow doubling.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Packet or flow distribution depends on platform forwarding mode. Equal cost does not guarantee equal measured utilization.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FHRP virtual-gateway ownership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Two gateway routers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Active/standby pair coordinates ownership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Virtual IP/MAC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Shared stable host gateway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LAN hosts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Host uses unchanged gateway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HSRP virtual IP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Group 10 virtual MAC0000.0c07.ac0a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FHRP provides gateway redundancy, not end-to-end path guarantees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standby brief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FHRP virtual-gateway ownership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Active router owns virtual 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Standby monitors control messages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Active failure transfers ownership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Hosts keep same default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HSRP virtual IP 10.10.10.1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Group 10 virtual MAC0000.0c07.ac0a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FHRP virtual-gateway ownership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HSRP virtual IP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R1 physical .2; R2 physical .3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Group 10 virtual MAC0000.0c07.ac0a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 gateway routers · Active router owns virtual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 failure transfers 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Hosts keep same default 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FHRP virtual-gateway ownership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FHRP provides gateway redundancy, not end-to-end path guarantees. Tracking and preemption policy affect ownership recovery.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standby brief. Confirm one active owner, one standby and host ARP resolves virtual rather than physical gateway MAC.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HSRP virtual IP 10.10.10.1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LAN hosts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FHRP virtual-gateway ownership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Two gateway routers -&gt; LAN hosts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HSRP virtual IP 10.10.10.1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Hosts keep same default gateway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Group 10 virtual MAC0000.0c07.ac0a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standby brief. Confirm one active owner, one standby and host ARP resolves virtual rather than physical gateway MAC.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FHRP provides gateway redundancy, not end-to-end path guarantees. Tracking and preemption policy affect ownership recovery.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End-to-end routed fault isolation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Source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Address/mask/default-gateway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Transit routers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Installed route and neighbor resolution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Destination 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path and service listener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Source 10.10.10.10/24 gw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Both directions need 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One-way routes can produce request arrival with no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Collect source settings, forward route, return route and filtering evidence; isolate first failing control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End-to-end routed fault isolation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 chooses local/remote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Gateway forwards by longest match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hop resolves adjacency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 route carries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Source 10.10.10.10/24 gw 10.10.10.1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Both directions need routes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End-to-end routed fault isolation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Source 10.10.10.10/24 gw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Target 10.20.20.20/24 gw 10.20.20.1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Both directions need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Source host · Host chooses local/remote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hop resolves adjacency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route carries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End-to-end routed fault isolation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One-way routes can produce request arrival with no response. ACL and NAT may alter observed reachability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Collect source settings, forward route, return route and filtering evidence; isolate first failing control 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Source 10.10.10.10/24 gw 10.10.10.1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Destination host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End-to-end routed fault isolation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Source host -&gt; Destination host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Source 10.10.10.10/24 gw 10.10.10.1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Return route carries response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Both directions need routes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Collect source settings, forward route, return route and filtering evidence; isolate first failing control point.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One-way routes can produce request arrival with no response. ACL and NAT may alter observed reachability independently.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floating static failover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Primary IPv6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Preferred installed IPv6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Backup next 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Secondary scoped gateway adjacency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Administrative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Locally configured source preference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route 2001:db8:20::/64 Gi0/0 fe80::2 200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ipv6 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If primary route remains installed despite remote failure, an untracked floating route may not activate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/64 route source and next hop before/after controlled primary withdrawal; show ipv 6 neighbors confirms backup adjacency.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floating static failover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Primary source installs prefix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Higher-distance static stays candidate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Primary route withdraws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Backup resolves and installs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route 2001:db8:20::/64 Gi0/0 fe80::2 200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ipv 6 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floating static failover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route 2001:db8:20::/64 Gi0/0 fe80::2 200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Primary OSPFv3 AD 110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Backup AD 200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ipv6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Primary IPv6 route · Primary source installs prefix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Primary route withdraws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Backup resolves and installs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floating static failover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If primary route remains installed despite remote failure, an untracked floating route may not activate. Link-local next hop requires interface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/64 route source and next hop before/after controlled primary withdrawal; show ipv 6 neighbors confirms backup adjacency.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route 2001:db8:20::/64 Gi0/0 fe80::2 200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Administrative distance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CONNECTIVITY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floating static failover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Primary IPv6 route -&gt; Administrative distance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route 2001:db8:20::/64 Gi0/0 fe80::2 200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Backup resolves and installs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ipv 6 route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/64 route source and next hop before/after controlled primary withdrawal; show ipv 6 neighbors confirms backup adjacency.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If primary route remains installed despite remote failure, an untracked floating route may not activate. Link-local next hop requires interface scope.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6: static/IPv6 routes or Activity 7: OSPF/gateway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10%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IP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NAT mapping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Inside local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Private source before translation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Inside global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Public source identity after translation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NAT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Applies reversible static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inside source static 10.10.10.10 203.0.113.10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Inside global 203.0.113.10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NAT requires inside/outside interface roles and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nat translations; inspect original/translated endpoints and both route directions.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NAT mapping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Inside packet matches mapping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Source changes to global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Outside reply matches reverse mapping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Destination returns to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inside source static 10.10.10.10 203.0.113.10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Inside global 203.0.113.10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NAT mapping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nat inside source static 10.10.10.10 203.0.113.10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Inside local 10.10.10.10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Inside global 203.0.113.10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Inside local host · Inside packet matches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Outside reply matches reverse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Destination returns to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NAT mapping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NAT requires inside/outside interface roles and routing. A mapping is not an inbound security policy.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nat translations; inspect original/translated endpoints and both route directions.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inside source static 10.10.10.10 203.0.113.10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NAT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NAT mapping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Inside local host -&gt; NAT router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nat inside source static 10.10.10.10 203.0.113.10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Destination returns to local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Inside global 203.0.113.10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nat translations; inspect original/translated endpoints and both route directions.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NAT requires inside/outside interface roles and routing. A mapping is not an inbound security policy.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NAT pool allocation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Inside address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Selects inside translation candidates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Global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Available global address inventory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Translation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Tracks reversible allocated mappings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pool PUBLIC 203.0.113.10 203.0.113.20 netmask 255.255.255.0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inside source list 1 pool 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Pool has 11 addresses; more simultaneous unique inside mappings can exhaust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nat statistics and translations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NAT pool allocation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Permitted inside source starts traffic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Free global address assigned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Entry persists while active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Pool exhaustion rejects new 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pool PUBLIC 203.0.113.10 203.0.113.20 netmask 255.255.255.0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 nat inside source list 1 pool PUBLIC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NAT pool allocation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nat pool PUBLIC 203.0.113.10 203.0.113.20 netmask 255.255.255.0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nat inside source list 1 pool 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Inside address ACL · Permitted inside source starts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Entry persists while 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Pool exhaustion rejects new mapping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NAT pool allocation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Pool has 11 addresses; more simultaneous unique inside mappings can exhaust it. ACL selects translation candidates, not interface filtering.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nat statistics and translations. Compare allocated addresses with pool capacity and identify unmatched ACL sources.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pool PUBLIC 203.0.113.10 203.0.113.20 netmask 255.255.255.0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Translation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Dynamic NAT pool allocation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Inside address ACL -&gt; Translation table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nat pool PUBLIC 203.0.113.10 203.0.113.20 netmask 255.255.255.0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Pool exhaustion rejects new mapping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nat inside source list 1 pool PUBLIC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nat statistics and translations. Compare allocated addresses with pool capacity and identify unmatched ACL sources.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Pool has 11 addresses; more simultaneous unique inside mappings can exhaust it. ACL selects translation candidates, not interface filtering.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 port disambiguation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Inside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Original endpoint source tuples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Shared public 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Common translated source address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Port mapping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Disambiguates protocol/address/port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10.10.10.10:49152 -&gt;203.0.113.2:30001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nat inside source list 1 interface Gi0/0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PAT depends on tuple state and protocol behavior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nat translations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 port disambiguation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sends unique source tuple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NAT selects translated source 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Reply matches global tuple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Original tuple is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10.10.10.10:49152 -&gt;203.0.113.2:30001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ip nat inside source list 1 interface Gi0/0 overload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 port disambiguation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10.10.10.10:49152 -&gt;203.0.113.2:30001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10.10.10.11:49152 -&gt;203.0.113.2:30002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nat inside source list 1 interface Gi0/0 overload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Inside clients · Client sends unique source tuple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Reply matches global tuple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Original tuple is restored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 port disambiguation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PAT depends on tuple state and protocol behavior. An address-only inspection cannot distinguish concurrent sessions.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nat translations. Compare inside local/global address and port; correlate remote endpoint and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10.10.10.10:49152 -&gt;203.0.113.2:30001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Port mapping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 port disambiguation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Inside clients -&gt; Port mapping table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10.10.10.10:49152 -&gt;203.0.113.2:30001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Original tuple is restored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nat inside source list 1 interface Gi0/0 overload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nat translations. Compare inside local/global address and port; correlate remote endpoint and protocol.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PAT depends on tuple state and protocol behavior. An address-only inspection cannot distinguish concurrent sessions.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NTP synchronization hierarchy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Time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Trusted clock upstream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Router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Offset/stratum association selection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Device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Time-correlated device event records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ntp associations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configured server can be unreachable or unsynchronized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ntp status and associations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NTP synchronization hierarchy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polls NTP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Round-trip estimates offset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Eligible source selected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Clock supports correlated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ntp associations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NTP synchronization hierarchy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ntp server 192.0.2.123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Stratum 0 reference clock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Stratum 1 directly synchronized server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Stratum 2 downstream client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ntp associations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Time source · Client polls NTP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Eligible source selected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Clock supports correlated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synchronization hierarchy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configured server can be unreachable or unsynchronized. Wrong time undermines incident correlation and certificates.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ntp status and associations. Identify selected peer and synchronized state; compare clock with trusted reference.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Device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synchronization hierarchy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Time source -&gt; Device logs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ntp server 192.0.2.123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Clock supports correlated logs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ntp associations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ntp status and associations. Identify selected peer and synchronized state; compare clock with trusted reference.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configured server can be unreachable or unsynchronized. Wrong time undermines incident correlation and certificates.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DORA allocation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DHCP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Requests address and options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Relay/router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Relays request across routed boundary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DHCP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Selects scope and grants 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client 68 -&gt; server 67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DORA: Discover Offer Request 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lease without correct router/DNS options yields partial connectivity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Capture DORA and inspect ipconfig/ip address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DORA allocation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Discover broadcasts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Offer proposes lease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Request selects offer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ACK confirms options and lifetime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client 68 -&gt; server 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DORA: Discover Offer Request 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DORA allocation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UDP client 68 -&gt; server 67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Options: mask, router, DNS, lease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DORA: Discover Offer Request 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DHCP client · Discover broadcasts need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Request selects offer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ACK confirms options and lifetime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DORA allocation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lease without correct router/DNS options yields partial connectivity. Exhausted pool and blocked relay are distinct faults.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Capture DORA and inspect ipconfig/ip address evidence. Confirm assigned subnet, gateway, DNS and lease scope.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UDP client 68 -&gt; server 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DHCP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DORA allocation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DHCP client -&gt; DHCP server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UDP client 68 -&gt; server 67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ACK confirms options and lifetime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DORA: Discover Offer Request ACK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Capture DORA and inspect ipconfig/ip address evidence. Confirm assigned subnet, gateway, DNS and lease scope.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lease without correct router/DNS options yields partial connectivity. Exhausted pool and blocked relay are distinct faults.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relay and client roles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Client VLAN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Broadcast-originating subnet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Relay SVI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Adds giaddr and forwards server request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Remote DHCP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Selects matching client-subnet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Relay giaddr 10.10.10.1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Remote server needs a scope for the relay subnet and return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giaddr, scope selection and server response; compare client address with VLAN 10 prefix.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relay and client roles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Broadcast reaches relay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Relay sets giaddr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chooses corresponding scope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Reply returns through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Vlan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Relay giaddr 10.10.10.1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relay and client roles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helper-address 10.20.0.50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Relay giaddr 10.10.10.1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Client VLAN · Broadcast reaches relay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Server chooses corresponding scope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Reply returns through relay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relay and client roles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Remote server needs a scope for the relay subnet and return routing. Helper configuration does not fix wrong pool options.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Check giaddr, scope selection and server response; compare client address with VLAN 10 prefix.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Vlan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Remote DHCP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 relay and client roles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 VLAN -&gt; Remote DHCP server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Vlan 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Reply returns through relay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Relay giaddr 10.10.10.1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Check giaddr, scope selection and server response; compare client address with VLAN 10 prefix.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server needs a scope for the relay subnet and return routing. Helper configuration does not fix wrong pool options.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record and cache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Stub resolver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Chooses resolver and requested name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Recursive 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Recurses and caches answers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Authoritative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Owns published zone records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app.example.test 192.0.2.50 TTL 300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CNAME portal -&gt;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NXDOMAIN differs from timeout and wrong answer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nslookup/dig result: server, status, answer and TTL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record and cache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queries resolver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Resolver checks cache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Authoritative data answers miss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TTL limits cache lifetime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app.example.test 192.0.2.50 TTL 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CNAME portal -&gt; 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record and cache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 app.example.test 192.0.2.50 TTL 300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AAAA app.example.test2001:db8::50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CNAME portal -&gt;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Stub resolver · Client queries resolver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Authoritative data answers miss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TTL limits cache lifetime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DNS record and cache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NXDOMAIN differs from timeout and wrong answer. Ping by IP can succeed while name resolution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nslookup/dig result: server, status, answer and TTL. Test intended A/AAAA record and resolver reachability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app.example.test 192.0.2.50 TTL 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Authoritative 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DNS record and cache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Stub resolver -&gt; Authoritative zone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app.example.test 192.0.2.50 TTL 300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TTL limits cache lifetime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CNAME portal -&gt; app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nslookup/dig result: server, status, answer and TTL. Test intended A/AAAA record and resolver reachability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NXDOMAIN differs from timeout and wrong answer. Ping by IP can succeed while name resolution fails.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SNMP manager and agent state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NMS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Polls and correlates operational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Device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Exposes managed object values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MIB/OID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Names managed object identifiers and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SNMP queries UDP 161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SNMPv 3 authPriv protects messages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SNMPv 1/v 2 c community strings do not provide modern encryption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Correlate OID value, timestamp, agent reachability and local show output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SNMP manager and agent state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Manager polls object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Agent returns value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Trap/inform reports event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NMS correlates state over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SNMP queries UDP 161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SNMPv 3 authPriv protects messages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SNMP manager and agent state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SNMP queries UDP 161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Notifications UDP 162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ifOperStatus: up(1), down(2)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SNMPv 3 authPriv protects 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NMS manager · Manager polls 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Trap/inform reports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NMS correlates state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SNMP manager and agent state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SNMPv 1/v 2 c community strings do not provide modern encryption. A stale polling value is not the same as live interface status.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Correlate OID value, timestamp, agent reachability and local show output. Restrict management source and use SNMPv 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SNMP queries UDP 161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MIB/OID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SNMP manager and agent state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NMS manager -&gt; MIB/OID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SNMP queries UDP 161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NMS correlates state over time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SNMPv 3 authPriv protects messages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Correlate OID value, timestamp, agent reachability and local show output. Restrict management source and use SNMPv 3.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SNMPv 1/v 2 c community strings do not provide modern encryption. A stale polling value is not the same as live interface status.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Syslog severity and facility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Device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Originating operational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Syslog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Facility, severity, mnemonic, timestamp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Collector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Receives and filters log records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%LINK-3-UPDOWN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logging trap warnings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Threshold 4 includes 0-4, not 5-7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 facility, severity and mnemonic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Syslog severity and facility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Event selects facility/severity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Message receives timestamp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Transport sends collector record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Collector filters by configured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%LINK-3-UPDOWN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logging trap warnings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Syslog severity and facility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%LINK-3-UPDOWN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Severity 0 emergencies -&gt;7 debugging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logging host 192.0.2.60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logging trap warnings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Device event · Event selects facility/severity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Transport sends collector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Collector filters by configured 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Syslog severity and facility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Threshold 4 includes 0-4, not 5-7. UDP syslog can lose messages; correlated timestamps require reliable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Identify facility, severity and mnemonic. Compare configured threshold with the missing event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%LINK-3-UPDOWN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Collector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Syslog severity and facility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Device event -&gt; Collector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%LINK-3-UPDOWN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Collector filters by configured threshold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logging trap warnings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Identify facility, severity and mnemonic. Compare configured threshold with the missing event level.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Threshold 4 includes 0-4, not 5-7. UDP syslog can lose messages; correlated timestamps require reliable time.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QoS classification and management transfer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Class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Traffic match and DSCP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Queue/scheduler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Congestion queue and scheduling 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Management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Secure administration/transfer transport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EF DSCP 46; AF 41 DSCP 34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SSH 22; TFTP 69; FTP 21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QoS does not create bandwidth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offered rate with policy counters, queue drops and latency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QoS classification and management transfer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Classification identifies traffic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Marking assigns DSCP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Congestion invokes queue/drop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Secure management transfers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EF DSCP 46; AF 41 DSCP 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SSH 22; TFTP 69; FTP 21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QoS classification and management transfer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EF DSCP 46; AF 41 DSCP 34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Policing can drop/remark excess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Shaping buffers/delays excess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SSH 22; TFTP 69; FTP 21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Class map · Classification identifies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Congestion invokes queue/drop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Secure management transfers configuration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QoS classification and management transfer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QoS does not create bandwidth. Strict priority needs limits; TFTP lacks authentication; FTP data channels differ from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offered rate with policy counters, queue drops and latency. Use SSH-based management and verify transferred file integrity.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EF DSCP 46; AF 41 DSCP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Management 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QoS classification and management transfer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Class map -&gt; Management channel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EF DSCP 46; AF 41 DSCP 34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Secure management transfers configuration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SSH 22; TFTP 69; FTP 21 control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offered rate with policy counters, queue drops and latency. Use SSH-based management and verify transferred file integrity.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QoS does not create bandwidth. Strict priority needs limits; TFTP lacks authentication; FTP data channels differ from control.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NTP server and client association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Trusted upstream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Trusted upstream synchronized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IOS time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Provides selected synchronized time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Downstream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Associates and estimates clock offset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Unsynchronized stratum 16 is unusable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server's configured source may be unreachable; serving an unsynchronized clock is not evidence of trusted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selected peer, synchronization state, stratum and clock on both server/client; compare log timestamps with trusted reference.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server and client association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IOS synchronizes to upstream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Downstream queries IOS server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Stratum increases per synchronization level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Offset/status determines usable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Unsynchronized stratum 16 is unusable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server and client association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ntp server 192.0.2.123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ntp status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Downstream ntp server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Unsynchronized stratum 16 is unusable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Trusted upstream · IOS synchronizes to upstream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Stratum increases per synchronization 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Offset/status determines usable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server and client association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server's configured source may be unreachable; serving an unsynchronized clock is not evidence of trusted time. Do not use arbitrary ntp master to hide upstream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selected peer, synchronization state, stratum and clock on both server/client; compare log timestamps with trusted reference.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ntp server 192.0.2.123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Downstream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NTP server and client association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Trusted upstream -&gt; Downstream client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ntp server 192.0.2.123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Offset/status determines usable time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Unsynchronized stratum 16 is unusable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selected peer, synchronization state, stratum and clock on both server/client; compare log timestamps with trusted reference.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server's configured source may be unreachable; serving an unsynchronized clock is not evidence of trusted time. Do not use arbitrary ntp master to hide upstream failure.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IOS DHCP client interface state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WAN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Lease-consuming routed interface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Provider DHCP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Address/options provider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Installed default/options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Address, route and lease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ip interface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DHCP client role differs from server pool and relay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Record interface leased address, lease lifetime and received options; inspect route table and provider next-hop reachability.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IOS DHCP client interface state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interface requests lease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supplies address/mask/options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IOS installs leased address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Lease renews before expiry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show ip interface brief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IOS DHCP client interface state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address dhcp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no shutdown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dhcp lease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ip interface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WAN interface · Client interface requests 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IOS installs leased address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Lease renews before 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IOS DHCP client interface state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DHCP client role differs from server pool and relay. Lease acceptance does not prove DNS/default route/options are intended.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Record interface leased address, lease lifetime and received options; inspect route table and provider next-hop reachability.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Gi0/0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Installed default/options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IOS DHCP client interface state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WAN interface -&gt; Installed default/options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Gi0/0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Lease renews before expiry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interface brief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Record interface leased address, lease lifetime and received options; inspect route table and provider next-hop reachability.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DHCP client role differs from server pool and relay. Lease acceptance does not prove DNS/default route/options are intended.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QoS congestion decisions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Classifier/marker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Assigns traffic class and per-hop marking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Egress queues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Scheduling and congestion-drop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Congestion-avoidance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Chooses excess-traffic 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Classification -&gt; marking -&gt; queuing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Policing drop/remark; shaping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queue scheduler and congestion-avoidance algorithm serve different roles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class matches, offered/dropped rates, queue depth and latency; compare baseline with congested test rather than asserting QoS creates bandwidth.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QoS congestion decisions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 matches class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DSCP marks per-hop behavior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Queue schedules during congestion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Avoidance drops selected packets before hard queue exhaustion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Classification -&gt; marking -&gt; queuing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Policing drop/remark; shaping delay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QoS congestion decisions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Classification -&gt; marking -&gt; queuing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Tail drop: queue full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WRED: probabilistic early discard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Policing drop/remark; shaping delay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Classifier/marker · Packet matches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Queue schedules during congestion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Avoidance drops selected packets before hard queue exhaustion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QoS congestion decisions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queue scheduler and congestion-avoidance algorithm serve different roles. Marked priority has no effect unless downstream policy recognizes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Inspect class matches, offered/dropped rates, queue depth and latency; compare baseline with congested test rather than asserting QoS creates bandwidth.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Classification -&gt; marking -&gt; queuing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Congestion-avoidance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IP SERVICES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QoS congestion decisions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Classifier/marker -&gt; Congestion-avoidance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Classification -&gt; marking -&gt; queuing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Avoidance drops selected packets before hard queue exhaustion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Policing drop/remark; shaping delay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Inspect class matches, offered/dropped rates, queue depth and latency; compare baseline with congested test rather than asserting QoS creates bandwidth.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queue scheduler and congestion-avoidance algorithm serve different roles. Marked priority has no effect unless downstream policy recognizes it.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8: NAT, DHCP, DNS and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15%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Fundamentals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Security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Threat-vulnerability-exploit chain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Resource with business/technical value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Weak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Exploitable configuration weakness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Adversary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Unauthorized action exploiting weakness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Asset: VTY management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Control: SSH + ACL + AAA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Threat is an actor/event, vulnerability is a weakness, exploit is a method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observed connection, account/audit event and relevant control; distinguish risk hypothesis from confirmed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Threat-vulnerability-exploit chain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Exposure identifies reachable asset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Vulnerability enables technique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Exploit triggers unauthorized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Control reduces likelihood or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Asset: VTY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Control: SSH + ACL + AAA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Threat-vulnerability-exploit chain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Asset: VTY management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Weakness: Telnet + weak password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Exploit: credential interception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Control: SSH + ACL + AAA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Asset · Exposure identifies reachable asset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Exploit triggers unauthorized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Control reduces likelihood or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Threat-vulnerability-exploit chain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Threat is an actor/event, vulnerability is a weakness, exploit is a method. Avoid treating labels as proof of compromise.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observed connection, account/audit event and relevant control; distinguish risk hypothesis from confirmed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Asset: VTY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Adversary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Threat-vulnerability-exploit chain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Asset -&gt; Adversary action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Asset: VTY management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 reduces likelihood or impact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Control: SSH + ACL + AAA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observed connection, account/audit event and relevant control; distinguish risk hypothesis from confirmed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Threat is an actor/event, vulnerability is a weakness, exploit is a method. Avoid treating labels as proof of compromise.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program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Policy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Defines and owns required behavior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User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Awareness and trained incident 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Technical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Enforces and measures compliance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Policy: MFA required for admins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Evidence: MFA enforcement + report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written policy is not evidence that enforcement 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Collect policy, control setting, exercise output and remediation owner; track exceptions explicitly.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program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Policy defines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Awareness communicates expectation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Training rehearses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 tests whether controls 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Policy: MFA required for admins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Evidence: MFA enforcement + report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program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Policy: MFA required for admins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Training: phishing report procedure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Evidence: MFA enforcement + report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Policy owner · Policy defines 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Training rehearses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Audit tests whether controls operate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program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written policy is not evidence that enforcement works. User awareness complements but does not replace technical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Collect policy, control setting, exercise output and remediation owner; track exceptions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Policy: MFA required for admins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Technical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program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Policy owner -&gt; Technical control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Policy: MFA required for admins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Audit tests whether controls operate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Evidence: MFA enforcement + report record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Collect policy, control setting, exercise output and remediation owner; track exceptions explicitly.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written policy is not evidence that enforcement works. User awareness complements but does not replace technical control.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user and enable secrets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Local user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Configured device identity credentials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Privilege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Permitted command privilege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CLI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Authenticated operational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username learner privilege 1 secret &lt;unique-training-secret&gt;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service password-encryption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 password-encryption obfuscates some passwords and is not strong cryptographic protection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running-config filtered for user/enable settings; test allowed commands without publishing secret values.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user and enable secrets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User authenticates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Privilege level authorizes commands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Enable secret controls escalation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Config stores protected secret representation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username learner privilege 1 secret &lt;unique-training-secret&gt;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 password-encryption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user and enable secrets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username learner privilege 1 secret &lt;unique-training-secret&gt;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enable secret &lt;unique-training-secret&gt;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service password-encryption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Local user DB · User authenticates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Enable secret controls escalation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Config stores protected secret representation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Local user and enable secrets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service password-encryption obfuscates some passwords and is not strong cryptographic protection. Never embed live credentials in course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running-config filtered for user/enable settings; test allowed commands without publishing secret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username learner privilege 1 secret &lt;unique-training-secret&gt;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CLI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Local user and enable secrets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user DB -&gt; CLI session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username learner privilege 1 secret &lt;unique-training-secret&gt;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Config stores protected secret representation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service password-encryption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running-config filtered for user/enable settings; test allowed commands without publishing secret values.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service password-encryption obfuscates some passwords and is not strong cryptographic protection. Never embed live credentials in course files.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management prerequisites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Hostname/domain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device naming and SSH prerequisites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RSA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Server public-key cryptographic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VTY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Allowed session methods and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hostname R1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transport input ssh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Avoid enabling Telnet as a fallback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ssh; test authenticated SSH from permitted source and rejected access from an unauthorized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management prerequisites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key supports SSH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Local or AAA authenticates user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VTY permits SSH transport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ACL restricts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hostname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transport input ssh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management prerequisites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hostname R1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domain-name training.example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crypto key generate rsa modulus 2048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line vty 0 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login local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transport input ssh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Hostname/domain · Device key supports SSH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VTY permits SSH transport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ACL restricts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management prerequisites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Avoid enabling Telnet as a fallback. Keys, SSH version, user method and VTY lines must align.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ssh; test authenticated SSH from permitted source and rejected access from an unauthorized source.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hostname 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VTY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SSH management prerequisites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Hostname/domain -&gt; VTY access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hostname R1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ACL restricts source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transport input ssh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ssh; test authenticated SSH from permitted source and rejected access from an unauthorized source.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Avoid enabling Telnet as a fallback. Keys, SSH version, user method and VTY lines must align.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and MFA policy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Knowledge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Secret known by user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Possession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Independent physical/token factor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Identity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Checks identity and issues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Password + hardware/security-key factor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MFA protects management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MFA is not implemented by merely configuring two local passwords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identity policy, enrollment and successful/failed audit records; identify bypass paths and role scope.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and MFA policy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User presents credential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Verifier checks password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Second independent factor validates possession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Session receives authorized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Password + hardware/security-key 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MFA protects management 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and MFA policy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Password + hardware/security-key factor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Two passwords are one factor type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MFA protects management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Knowledge factor · User presents credential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Second independent factor validates possession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Session receives authorized 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and MFA policy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MFA is not implemented by merely configuring two local passwords. Recovery and fallback methods must preserve the intended assurance.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Inspect identity policy, enrollment and successful/failed audit records; identify bypass paths and role scope.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Password + hardware/security-key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Identity verifier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and MFA policy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Knowledge factor -&gt; Identity verifier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Password + hardware/security-key factor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Session receives authorized role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MFA protects management identity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Inspect identity policy, enrollment and successful/failed audit records; identify bypass paths and role scope.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MFA is not implemented by merely configuring two local passwords. Recovery and fallback methods must preserve the intended assurance.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responsibility split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Authentication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Proves user/device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Authorization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Decides permitted role or command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Accounting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Records session and action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Authentication: who are you?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Accounting: who changed VLAN 20 at14:02?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Successful login does not grant every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separate evidence for accepted identity, command permission and logged action; compare role to required task.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responsibility split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Authentication proves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Authorization limits 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Accounting records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 links account/time/command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Authentication: who are you?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Accounting: who changed VLAN 20 at14:02?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responsibility split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Authentication: who are you?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Authorization: may you configure VLAN?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Accounting: who changed VLAN 20 at14:02?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Authentication service · Authentication proves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Accounting records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Audit links account/time/command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responsibility split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Successful login does not grant every action. Accounting records support diagnosis but do not enforce authorization by themselves.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separate evidence for accepted identity, command permission and logged action; compare role to required task.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Authentication: who are you?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Accounting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responsibility split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Authentication service -&gt; Accounting log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Authentication: who are you?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Audit links account/time/command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Accounting: who changed VLAN 20 at14:02?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Use separate evidence for accepted identity, command permission and logged action; compare role to required task.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Successful login does not grant every action. Accounting records support diagnosis but do not enforce authorization by themselves.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and TACACS+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Network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Sends authentication/authorization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AAA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Evaluates centralized identity/policy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Admin or supplicant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Consumes permitted session/access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UDP 1812 auth, 1813 accounting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common for network access AAA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Protocol roles and encryption scope differ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Confirm AAA server reachability and reject behavior; document local fallback without turning failures into unrestricted access.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and TACACS+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sends AAA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checks identity/policy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Decision returns to device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enforces access/command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UDP 1812 auth, 1813 accounting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RADIUS common for network access AAA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and TACACS+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RADIUS UDP 1812 auth, 1813 accounting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TACACS+ TCP 49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RADIUS common for network access AAA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Network device · Device sends AAA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Decision returns to device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Device enforces access/command 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RADIUS and TACACS+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Protocol roles and encryption scope differ. Network access and device administration are distinct authorization problems.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Confirm AAA server reachability and reject behavior; document local fallback without turning failures into unrestricted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UDP 1812 auth, 1813 accounting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Admin or supplicant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RADIUS and TACACS+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Network device -&gt; Admin or supplicant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RADIUS UDP 1812 auth, 1813 accounting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Device enforces access/command role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RADIUS common for network access AAA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Confirm AAA server reachability and reject behavior; document local fallback without turning failures into unrestricted access.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Protocol roles and encryption scope differ. Network access and device administration are distinct authorization problems.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IPsec trust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Site A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Protects source site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Encrypted tunnel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Encrypted transit and peer authentication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Site B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Decrypts and routes to remote 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IKE UDP 500; NAT-T UDP 4500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Tunnel-up is not proof both subnet routes and policies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Correlate protected-subnet selectors, security associations, packet counters and remote application reachability.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IPsec trust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Interesting traffic matches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Peers authenticate and negotiate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IPsec protects transit payload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Remote gateway decrypts and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IKE UDP 500; NAT-T UDP 4500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IPsec trust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Local 10.10.0.0/16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Remote 10.20.0.0/16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ESP IP protocol 50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IKE UDP 500; NAT-T UDP 4500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Site A gateway · Interesting traffic matches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IPsec protects transit payload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Remote gateway decrypts and routes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IPsec trust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Tunnel-up is not proof both subnet routes and policies work. Encryption protects transit, not compromised endpoints.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Correlate protected-subnet selectors, security associations, packet counters and remote application reachability.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10.10.0.0/16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Site B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IPsec trust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Site A gateway -&gt; Site B gateway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Local 10.10.0.0/16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gateway decrypts and routes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IKE UDP 500; NAT-T UDP 4500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Correlate protected-subnet selectors, security associations, packet counters and remote application reachability.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Tunnel-up is not proof both subnet routes and policies work. Encryption protects transit, not compromised endpoints.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Remote-access VPN roles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Remote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Authenticates individual external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VPN headend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VPN access and route-policy boundary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Internal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Applies destination authorization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Remote client -&gt; TLS/IPsec VPN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Allowed service10.20.0.50:443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VPN authentication does not authorize every internal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client routes, assigned address, headend policy and service access; record identity and tunnel evidence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Remote-access VPN roles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User authenticates to headend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VPN policy assigns tunnel/access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Traffic follows full/split route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Internal service applies own authorization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Remote client -&gt; TLS/IPsec VPN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Allowed service10.20.0.50:443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Remote-access VPN roles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Remote client -&gt; TLS/IPsec VPN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Assigned client pool 10.30.0.0/24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Allowed service10.20.0.50:443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Remote user · User authenticates to headend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Traffic follows full/split route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Internal service applies own authorization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Remote-access VPN roles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VPN authentication does not authorize every internal service. Split tunneling changes which traffic crosses enterprise controls.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client routes, assigned address, headend policy and service access; record identity and tunnel evidence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Remote client -&gt; TLS/IPsec VPN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Internal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Remote-access VPN roles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user -&gt; Internal service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client -&gt; TLS/IPsec VPN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Internal service applies own authorization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Allowed service10.20.0.50:443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Verify client routes, assigned address, headend policy and service access; record identity and tunnel evidence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VPN authentication does not authorize every internal service. Split tunneling changes which traffic crosses enterprise controls.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 ACL source matching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Source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 field matched by standard ACL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Wildcard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Compare 0 bits and ignore 1 bits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Ordered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First-match permit/deny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access-list 10 permit 10.10.10.0 0.0.0.255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 access-group 10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Standard ACL matches source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access-lists; verify hit counters and direction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 ACL source matching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 reaches ACL binding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Rules evaluate top-down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First match permits/denies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Implicit deny handles no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access-list 10 permit 10.10.10.0 0.0.0.255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 access-group 10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 ACL source matching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access-list 10 permit 10.10.10.0 0.0.0.255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 access-group 10 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Source address · Packet reaches ACL binding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First match permits/denies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Implicit deny handles no 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 ACL source matching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Standard ACL matches source only. Placement near destination avoids unnecessarily blocking that source from unrelated destinations.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access-lists; verify hit counters and direction. Explain which flows share source and would be affected.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access-list 10 permit 10.10.10.0 0.0.0.255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Ordered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Standard ACL source matching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Source address -&gt; Ordered rules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access-list 10 permit 10.10.10.0 0.0.0.255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Implicit deny handles no match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 access-group 10 out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access-lists; verify hit counters and direction. Explain which flows share source and would be affected.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Standard ACL matches source only. Placement near destination avoids unnecessarily blocking that source from unrelated destinations.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Extended ACL tuple control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IP/protocol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Source/destination/protocol fields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Destination 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Transport service identifier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Ordered 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Ordered first-match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access-list extended WEB_ONLY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deny ip any any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source port is usually ephemeral; HTTPS destination port 443 identifies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allowed 443 and denied 22 with same source/destination; compare ACE counters and intended interface direction.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Extended ACL tuple control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Packet tuple evaluated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Protocol/address/port all match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First matching ACE decides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Unmatched traffic meets implicit deny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access-list extended WEB_ONLY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deny ip any any 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Extended ACL tuple control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access-list extended WEB_ONLY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permit tcp 10.10.10.0 0.0.0.255 host 10.20.20.50 eq 443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deny ip any any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IP/protocol tuple · Packet tuple evaluated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First matching ACE decides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Unmatched traffic meets implicit deny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Extended ACL tuple control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source port is usually ephemeral; HTTPS destination port 443 identifies service. Rule order changes behavior.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allowed 443 and denied 22 with same source/destination; compare ACE counters and intended interface direction.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access-list extended WEB_ONLY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Ordered ACEs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Extended ACL tuple control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IP/protocol tuple -&gt; Ordered ACEs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access-list extended WEB_ONLY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Unmatched traffic meets implicit deny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deny ip any any log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Test allowed 443 and denied 22 with same source/destination; compare ACE counters and intended interface direction.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The source port is usually ephemeral; HTTPS destination port 443 identifies service. Rule order changes behavior.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ACL wildcard mathematics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Address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IPv4 value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Wildcard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Bitwise matching care/ignore pattern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Match predicate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Equal compared bits cause match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10.10.10.0 wildcard 0.0.0.255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 10.10.10.5 = wildcard 0.0.0.0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Wildcard is not always a subnet mask and need not be contiguous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/27 mask 255.255.255.224, wildcard 0.0.0.31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ACL wildcard mathematics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Wildcard 0 means compare bit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Wildcard 1 means ignore bit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Address undergoes mask comparison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Matching tuple advances to ACE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10.10.10.0 wildcard 0.0.0.255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host 10.10.10.5 = wildcard 0.0.0.0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ACL wildcard mathematics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10.10.10.0 wildcard 0.0.0.255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Matches 10.10.10.0-255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host 10.10.10.5 = wildcard 0.0.0.0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Address bits · Wildcard 0 means compare 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Address undergoes mask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Matching tuple advances to ACE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ACL wildcard mathematics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Wildcard is not always a subnet mask and need not be contiguous. Inverting a mask is valid for subnet-based matching.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 /27 mask 255.255.255.224, wildcard 0.0.0.31. Check boundary .32-.63 before applying.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10.10.10.0 wildcard 0.0.0.255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Match predicate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ACL wildcard mathematics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Address bits -&gt; Match predicate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10.10.10.0 wildcard 0.0.0.255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Matching tuple advances to ACE action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 10.10.10.5 = wildcard 0.0.0.0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For /27 mask 255.255.255.224, wildcard 0.0.0.31. Check boundary .32-.63 before applying.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Wildcard is not always a subnet mask and need not be contiguous. Inverting a mask is valid for subnet-based matching.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Port-security admission and violations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Access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Physical edge admission boundary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Secure MAC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Permitted learned/static identities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Violation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Drop, counter or err-disable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switchport port-security violation restrict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Protect drops silently; restrict drops and records; shutdown err-disables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port-security interface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Port-security admission and violations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MAC source is learned or fixed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Maximum count limits devices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Violation action applies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Counter/log records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switchport port-security violation restrict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Port-security admission and violations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port-security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port-security maximum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port-security mac-address sticky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switchport port-security violation restrict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Access port · MAC source is learned or 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Violation action applies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Counter/log records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Port-security admission and violations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Protect drops silently; restrict drops and records; shutdown err-disables. Sticky entries learned in running config need save to persist.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port-security interface. Compare secure count, violation mode/counter and port state after an extra source MAC.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Violation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Port-security admission and violations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Access port -&gt; Violation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Counter/log records event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switchport port-security violation restrict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port-security interface. Compare secure count, violation mode/counter and port state after an extra source MAC.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Protect drops silently; restrict drops and records; shutdown err-disables. Sticky entries learned in running config need save to persist.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snooping and ARP inspection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Trusted DHCP uplink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Server-reply trust boundary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Binding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Lease-derived IP/MAC/VLAN/port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DAI access 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Rejects invalid ARP address claims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snooping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Trusted uplink: DHCP server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Trust only the proper uplink; DAI depends on binding knowledge or explicit ARP ACL for static hosts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dhcp snooping binding; show ip arp inspection statistics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 snooping and ARP inspection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Snooping rejects untrusted server replies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Lease creates IP/MAC/VLAN/port binding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DAI checks ARP claim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Invalid claim is dropped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snooping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Trusted uplink: DHCP server direction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 snooping and ARP inspection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dhcp snooping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dhcp snooping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arp inspection vlan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Trusted uplink: DHCP server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Trusted DHCP uplink · Snooping rejects untrusted server replies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DAI checks ARP claim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Invalid claim is dropped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 snooping and ARP inspection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Trust only the proper uplink; DAI depends on binding knowledge or explicit ARP ACL for static hosts. Trusting all ports defeats protection.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dhcp snooping binding; show ip arp inspection statistics. Map claimed IP/MAC to lease binding and ingress 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snooping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DAI access 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 snooping and ARP inspection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Trusted DHCP uplink -&gt; DAI access port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dhcp snooping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Invalid claim is dropped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Trusted uplink: DHCP server direction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dhcp snooping binding; show ip arp inspection statistics. Map claimed IP/MAC to lease binding and ingress port.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 only the proper uplink; DAI depends on binding knowledge or explicit ARP ACL for static hosts. Trusting all ports defeats protection.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WPA and authentication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Supplicant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EAP or shared-secret client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AP/WLC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WLAN security/network policy endpoint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PSK or AAA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Enterprise identity or PSK secret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WPA2-Personal: shared PSK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WPA2 AES/CCMP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hidden SSID is not an authentication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SSID security settings and client authentication status; verify intended VLAN and authorized connectivity after association.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WPA and authentication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selects WLAN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Authentication proves credential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Key exchange derives session protection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Encrypted data follows authorized VLAN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WPA2-Personal: shared PSK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WPA2 AES/CCMP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WPA and authentication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WPA2-Personal: shared PSK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WPA2-Enterprise: 802.1 X/EAP + AAA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WPA3-Personal: SAE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WPA2 AES/CCMP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Supplicant · Client selects WLAN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Key exchange derives session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Encrypted data follows authorized VLAN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WPA and authentication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hidden SSID is not an authentication control. Shared PSKs reduce identity attribution; choose WLAN method consistent with users/devices.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Inspect SSID security settings and client authentication status; verify intended VLAN and authorized connectivity after association.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WPA2-Personal: shared PSK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PSK or AAA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Wireless WPA and authentication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Supplicant -&gt; PSK or AAA backend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WPA2-Personal: shared PSK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Encrypted data follows authorized VLAN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WPA2 AES/CCMP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Inspect SSID security settings and client authentication status; verify intended VLAN and authorized connectivity after association.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hidden SSID is not an authentication control. Shared PSKs reduce identity attribution; choose WLAN method consistent with users/devices.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Physical access and identity controls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Secure equipment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Controls access to physical equipment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Console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Local management bypass boundary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Administrator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Authenticated authorized operator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Controls: locked rack + visitor log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Biometric: inherence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Physical possession can bypass network-layer assumptions; certificates require trust/validity/revocation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access record, identity verification and command audit; verify least privilege and documented recovery path.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Physical access and identity controls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Physical control restricts device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Identity verifier checks factor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Authorization scopes configuration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 correlates entry and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Controls: locked rack + visitor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Biometric: inherence factor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Physical access and identity controls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Controls: locked rack + visitor log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Identity: password, certificate, biometric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Certificate: issuer/subject/validity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Biometric: inherence 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Secure equipment room · Physical control restricts device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Authorization scopes configuration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Audit correlates entry and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Physical access and identity controls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Physical possession can bypass network-layer assumptions; certificates require trust/validity/revocation checks. A biometric plus password uses different factors.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access record, identity verification and command audit; verify least privilege and documented recovery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Controls: locked rack + visitor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Administrator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Physical access and identity controls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Secure equipment room -&gt; Administrator identity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Controls: locked rack + visitor log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Audit correlates entry and change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Biometric: inherence factor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access record, identity verification and command audit; verify least privilege and documented recovery path.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Physical possession can bypass network-layer assumptions; certificates require trust/validity/revocation checks. A biometric plus password uses different factors.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WPA lineage and WPA2 PSK WLAN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WLAN security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Cipher/authentication and VLAN mapping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Shared PSK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Shared synthetic authentication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Client key exchange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Session-key derivation and protection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SSID TRAINING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 Profile VLAN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Legacy WPA/TKIP is obsolete protection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actual WLAN security state and connected-client authentication; validate correct PSK acceptance and incorrect PSK rejection in isolated simulator.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WPA lineage and WPA2 PSK WLAN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Legacy WPA used TKIP transition security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WPA2 selects AES/CCMP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PSK authenticates shared-secret possession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Handshake derives session keys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SSID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Policy Profile VLAN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WPA lineage and WPA2 PSK WLAN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SSID TRAINING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Security WPA2-Personal / AES-CCMP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PSK &lt;synthetic-training-only&gt;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 Profile VLAN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WLAN security object · Legacy WPA used TKIP transition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PSK authenticates shared-secret possession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Handshake derives session keys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WPA lineage and WPA2 PSK WLAN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565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Legacy WPA/TKIP is obsolete protection. A WPA2PSK GUI task requires verifying security mode, cipher and policy VLAN, not only SSID visibility.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actual WLAN security state and connected-client authentication; validate correct PSK acceptance and incorrect PSK rejection in isolated simulator.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SSID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Client key exchange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WPA lineage and WPA2 PSK WLAN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WLAN security object -&gt; Client key exchange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SSID TRAINING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Handshake derives session keys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Policy Profile VLAN 20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actual WLAN security state and connected-client authentication; validate correct PSK acceptance and incorrect PSK rejection in isolated simulator.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Legacy WPA/TKIP is obsolete protection. A WPA2PSK GUI task requires verifying security mode, cipher and policy VLAN, not only SSID visibility.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IPsec tunnel and transport boundaries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Original IP 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Inner source/destination and payload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IPsec security association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Algorithms, keys, selectors and peer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Outer routed packet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Transport header or tunnel outer endpoints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ESP IP protocol50: confidentiality/integrity policy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Transport: original IP + protected upper-layer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AH does not provide confidentiality and is problematic across address-changing NAT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 mode, selectors, peer endpoints, ESP/AH choice and counters; verify remote-access/site-to-site routing plus traffic protection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IPsec tunnel and transport boundaries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Peers authenticate and negotiate 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ESP protects selected payload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Tunnel encapsulates original IP packet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Transport retains original outer IP header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ESP IP protocol50: confidentiality/integrity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Transport: original IP + protected upper-layer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IPsec tunnel and transport boundaries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ESP IP protocol50: confidentiality/integrity policy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AH IP protocol51: authentication/integrity, no encryption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Tunnel: new outer IP + protected original packet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Transport: original IP + protected upper-layer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Original IP packet · Peers authenticate and negotiate 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Tunnel encapsulates original IP packet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Transport retains original outer IP header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IPsec tunnel and transport boundaries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570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AH does not provide confidentiality and is problematic across address-changing NAT. IPsec protection depends on negotiated algorithms and policy, not protocol name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Identify mode, selectors, peer endpoints, ESP/AH choice and counters; verify remote-access/site-to-site routing plus traffic protection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ESP IP protocol50: confidentiality/integrity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Outer routed packet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SECURITY FUNDAMENTALS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IPsec tunnel and transport boundaries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Original IP packet -&gt; Outer routed packet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ESP IP protocol50: confidentiality/integrity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Transport retains original outer IP header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Transport: original IP + protected upper-layer data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Identify mode, selectors, peer endpoints, ESP/AH choice and counters; verify remote-access/site-to-site routing plus traffic protection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AH does not provide confidentiality and is problematic across address-changing NAT. IPsec protection depends on negotiated algorithms and policy, not protocol name alone.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9: ACL/management or Activity 10: L2/wireless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10% · CURRENT CCNA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Programmability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Automation and Programmability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99669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0">
                <a:solidFill>
                  <a:srgbClr val="5B6372"/>
                </a:solidFill>
                <a:latin typeface="Arial"/>
              </a:rPr>
              <a:t>Named boundaries -&gt; runtime trace -&gt; exact contract -&gt; failure/control -&gt; acceptance evidence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Traditional and controller operation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Device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device configuration channel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Controller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Intent/state northbound contract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Southbound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Device programming southbound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Northbound: application-&gt;controller API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Desired state != observed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Centralization reduces coordination work but creates control-system dependencies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device state after controller operation; compare target inventory, requested policy and observed forwarding.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Traditional and controller operation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Traditional change targets each device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Controller accepts intent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Southbound programs device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Telemetry returns observed operation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Northbound: application-&gt;controller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Desired state != observed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Traditional and controller operation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Northbound: application-&gt;controller API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Southbound: controller-&gt;device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Desired state != observed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Device CLI · Traditional change targets each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Southbound programs device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Telemetry returns observed operation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Traditional and controller operation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576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Centralization reduces coordination work but creates control-system dependencies. A controller acknowledgement does not prove device convergence.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device state after controller operation; compare target inventory, requested policy and observed forwarding.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Northbound: application-&gt;controller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Southbound 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Traditional and controller operation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Device CLI -&gt; Southbound channel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Northbound: application-&gt;controller API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Telemetry returns observed operation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Desired state != observed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device state after controller operation; compare target inventory, requested policy and observed forwarding.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Centralization reduces coordination work but creates control-system dependencies. A controller acknowledgement does not prove device convergence.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and data plane separation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Control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Route/policy computation and exception handling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Forwarding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Installed packet-forwarding contract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Packet ASIC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Fast forwarding execution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RIB -&gt; FIB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Packet lookup: destination prefix + next-hop rewrite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High control-plane CPU and data-plane congestion have different causes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route computation, installed FIB and interface forwarding counters; identify whether failure is computation or packet execution.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and data plane separation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Control plane computes route/policy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Programs FIB/adjacency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Data plane forwards packets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Exceptions may punt to CPU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RIB -&gt; FIB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Packet lookup: destination prefix + next-hop rewrite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and data plane separation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RIB -&gt; FIB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ARP/ND -&gt; adjacency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Packet lookup: destination prefix + next-hop rewrite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Control process · Control plane computes route/policy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Data plane forwards packets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Exceptions may punt to CPU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and data plane separation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581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High control-plane CPU and data-plane congestion have different causes. Separation can be logical within the same device.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route computation, installed FIB and interface forwarding counters; identify whether failure is computation or packet execution.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RIB -&gt; FIB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Packet ASIC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and data plane separation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 process -&gt; Packet ASIC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RIB -&gt; FIB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Exceptions may punt to CPU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Packet lookup: destination prefix + next-hop rewrite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route computation, installed FIB and interface forwarding counters; identify whether failure is computation or packet execution.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High control-plane CPU and data-plane congestion have different causes. Separation can be logical within the same device.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 underlay and fabric roles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Underlay routed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Tunnel endpoint IP reachability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Overlay virtual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Tenant encapsulation and segmentation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Fabric edge/control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Endpoint/policy/control ownership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Inner tenant packet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Cisco DNA/SD-Access roles: edge, border, control plane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Underlay reachability alone does not prove overlay policy or endpoint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endpoint reachability, fabric role and policy mapping; inspect inner/outer address distinction in a sourced architecture exhibit.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Overlay underlay and fabric roles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Underlay reaches tunnel endpoints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Overlay encapsulates tenant packet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Fabric policy maps identity/segment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Remote edge decapsulates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Inner tenant packet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Cisco DNA/SD-Access roles: edge, border, control plane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Overlay underlay and fabric roles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Inner tenant packet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Outer underlay IP + tunnel header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Cisco DNA/SD-Access roles: edge, border, control plane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Underlay routed links · Underlay reaches tunnel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Fabric policy maps identity/segment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Remote edge decapsulates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Overlay underlay and fabric roles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586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Underlay reachability alone does not prove overlay policy or endpoint resolution. MTU must accommodate encapsulation overhead.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Check endpoint reachability, fabric role and policy mapping; inspect inner/outer address distinction in a sourced architecture exhibit.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Inner tenant packet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Fabric edge/control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Overlay underlay and fabric roles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Underlay routed links -&gt; Fabric edge/control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Inner tenant packet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Remote edge decapsulates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Cisco DNA/SD-Access roles: edge, border, control plane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Check endpoint reachability, fabric role and policy mapping; inspect inner/outer address distinction in a sourced architecture exhibit.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Underlay reachability alone does not prove overlay policy or endpoint resolution. MTU must accommodate encapsulation overhead.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resource and HTTP verbs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Authenticated resource request origin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Resource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URI identifying target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Controller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resource representation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GET read; POST create/action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200 OK;201 Created;401 unauthenticated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blindly repeat non-idempotent POST on timeout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back resource after mutation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resource and HTTP verbs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 identifies URI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Method requests resource operation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authorizes/evaluates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Status and representation describe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GET read; POST create/action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200 OK;201 Created;401 unauthenticated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resource and HTTP verbs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GET read; POST create/action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PUT replace target representation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PATCH partial update; DELETE remove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200 OK;201 Created;401 unauthenticated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API client · Client identifies URI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Server authorizes/evaluates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Status and representation describe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resource and HTTP verbs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591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blindly repeat non-idempotent POST on timeout. Preserve existing fields when endpoint semantics require complete replacement.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back resource after mutation. Distinguish 200 response from semantic correctness and 401 from 403 authorization failure.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GET read; POST create/action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Controller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REST resource and HTTP verbs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API client -&gt; Controller state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GET read; POST create/action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Status and representation describe result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200 OK;201 Created;401 unauthenticated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back resource after mutation. Distinguish 200 response from semantic correctness and 401 from 403 authorization failure.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blindly repeat non-idempotent POST on timeout. Preserve existing fields when endpoint semantics require complete replacement.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authentication and HTTPS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Client credential and scoped role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TLS connection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Server trust and encrypted transit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Authorization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Permitted resource/method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Authorization: Bearer &lt;training-token&gt;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HTTPS certificate validation 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Never put live API keys into activity data or public repos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local mock tokens; verify 401 for missing token, 403 for insufficient role and allowed scoped GET with correct identity.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authentication and HTTPS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TLS authenticates server/protects transit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Credential identifies client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Policy checks operation scope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 records action/result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Authorization: Bearer &lt;training-token&gt;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HTTPS certificate validation enabled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 authentication and HTTPS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Authorization: Bearer &lt;training-token&gt;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Basic credential only over TLS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Token scope + expiry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HTTPS certificate validation enabled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API identity · TLS authenticates server/protects transit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Policy checks operation scope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Audit records action/result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REST authentication and HTTPS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596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Never put live API keys into activity data or public repos. Authentication token possession does not imply unlimited authorization.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local mock tokens; verify 401 for missing token, 403 for insufficient role and allowed scoped GET with correct identity.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Authorization: Bearer &lt;training-token&gt;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Authorization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REST authentication and HTTPS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API identity -&gt; Authorization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Authorization: Bearer &lt;training-token&gt;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Audit records action/result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HTTPS certificate validation enabled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Use local mock tokens; verify 401 for missing token, 403 for insufficient role and allowed scoped GET with correct identity.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Never put live API keys into activity data or public repos. Authentication token possession does not imply unlimited authorization.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typed data contracts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JSON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String-keyed typed record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Array of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Ordered typed interface records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Syntax/type validation boundary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Object key hostname = "R1"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interfaces[0]: enabled = true; mtu = 1500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JSON booleans are lowercase true/false; trailing commas/comments are invalid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Parse with python json.loads; check enabled is boolean and mtu integer; validate required interface keys before acting.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typed data contracts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Parser reads valid syntax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Object maps string keys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Array preserves sequence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Type controls consumer behavior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Object key hostname = "R1"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interfaces[0]: enabled = true; mtu = 1500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typed data contracts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{"hostname":"R1","interfaces":[{"name":"Gi0/0","enabled":true,"mtu":1500}],"note":null}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JSON object · Parser reads valid syntax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Array preserves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Type controls consumer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typed data contracts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601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JSON booleans are lowercase true/false; trailing commas/comments are invalid. Numeric strings differ from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Parse with python json.loads; check enabled is boolean and mtu integer; validate required interface keys before acting.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Object key hostname = "R1"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Parser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typed data contracts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JSON object -&gt; Parser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Object key hostname = "R1"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Type controls consumer behavior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interfaces[0]: enabled = true; mtu = 1500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Parse with python json.loads; check enabled is boolean and mtu integer; validate required interface keys before acting.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JSON booleans are lowercase true/false; trailing commas/comments are invalid. Numeric strings differ from numbers.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Ansible desired configuration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Approved target identities and groups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Idempotent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Declarative desired device lines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Device 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Authenticated network command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hosts: routers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    lines: [hostname R1]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Idempotence depends on module and task behavior; arbitrary shell tasks are not automatically idempotent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inventory and inspect before/after configs; second identical run should report no change for an idempotent task.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Ansible desired configuration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Inventory groups targets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Module gathers or configures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Task evaluates desired lines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Result reports changed/failed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hosts: routers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    lines: [hostname R1]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Ansible desired configuration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hosts: routers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connection: ansible.netcommon.network_cli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tasks: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- cisco.ios.ios_config: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    lines: [hostname R1]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Inventory · Inventory groups targets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Task evaluates desired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Result reports changed/failed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desired configuration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606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Idempotence depends on module and task behavior; arbitrary shell tasks are not automatically idempotent. Inventory secrets stay outside public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Validate inventory and inspect before/after configs; second identical run should report no change for an idempotent task.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hosts: routers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Device connection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desired configuration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Inventory -&gt; Device connection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hosts: routers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Result reports changed/failed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    lines: [hostname R1]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Validate inventory and inspect before/after configs; second identical run should report no change for an idempotent task.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Idempotence depends on module and task behavior; arbitrary shell tasks are not automatically idempotent. Inventory secrets stay outside public files.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Terraform plan and state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HCL desired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Desired resource declaration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Provider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Remote resource API and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State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Resource-address/remote-ID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terraform init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 maps resource address to provider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State can hold sensitive values; never publish state or credentials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create/update/destroy actions, apply result and provider readback; protect state and record resource identity.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Terraform plan and state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Configuration defines desired objects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Provider reads current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Plan displays difference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Apply persists resulting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terraform init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State maps resource address to provider 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Terraform plan and state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terraform init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terraform plan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terraform apply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State maps resource address to provider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HCL desired resources · Configuration defines desired objects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Plan displays difference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Apply persists resulting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Terraform plan and state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611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State can hold sensitive values; never publish state or credentials. A plan is reviewable evidence, not proof an apply converged.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Review create/update/destroy actions, apply result and provider readback; protect state and record resource identity.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terraform init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State 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Terraform plan and state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HCL desired resources -&gt; State file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terraform init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Apply persists resulting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State maps resource address to provider identity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Review create/update/destroy actions, apply result and provider readback; protect state and record resource identity.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State can hold sensitive values; never publish state or credentials. A plan is reviewable evidence, not proof an apply converged.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Generative and predictive AI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Operational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Measured operational input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AI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Prediction or generated recommendation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Human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Evidence-based controlled change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Predictive: anomaly probability 0.92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Required evidence: counters + topology + official syntax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Generated config can hallucinate commands or weaken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 source trace, simulator test, rollback and reviewer approval before live change; compare prediction with actual observed event.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Generative and predictive AI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Predictive model estimates event/risk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Generative model drafts explanation/config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Human checks evidence and syntax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Controlled test validates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Predictive: anomaly probability 0.92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Required evidence: counters + topology + official syntax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Generative and predictive AI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Predictive: anomaly probability 0.92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Generative: suggested ACL/change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Required evidence: counters + topology + official syntax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Operational telemetry · Predictive model estimates event/risk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Human checks evidence and syntax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Controlled test validates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Generative and predictive AI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616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Generated config can hallucinate commands or weaken controls. Correlation and model score do not establish incident cause.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Require source trace, simulator test, rollback and reviewer approval before live change; compare prediction with actual observed event.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Predictive: anomaly probability 0.92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Human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Generative and predictive AI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Operational telemetry -&gt; Human decision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Predictive: anomaly probability 0.92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Controlled test validates outcome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Required evidence: counters + topology + official syntax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Require source trace, simulator test, rollback and reviewer approval before live change; compare prediction with actual observed event.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Generated config can hallucinate commands or weaken controls. Correlation and model score do not establish incident cause.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change verification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Baseline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Known initial configuration and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Proposed 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Reviewed narrowly scoped change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Observed readback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Actual post-change preserved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VLANs 10, 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Evidence: post-state +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successful API response or tool exit is insufficient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target identity, preserved fields, intended change and end-to-end checks; retain rollback artifact without secrets.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change verification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Capture baseline and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Review intended delta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Execute scoped change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Read back and compare semantic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VLANs 10,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Evidence: post-state +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change verification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Baseline VLANs 10, 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Proposed addVLAN 30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Expected unchanged: VLAN 10/20, uplink, AAA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Evidence: post-state +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Baseline snapshot · Capture baseline and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Execute scoped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back and compare semantic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Automation change verification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621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successful API response or tool exit is insufficient. Partial updates can erase fields if endpoint expects replacement.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Validate target identity, preserved fields, intended change and end-to-end checks; retain rollback artifact without secrets.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VLANs 10,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Observed readback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AND PROGRAMMABILITY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Automation change verification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Baseline snapshot -&gt; Observed readback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Baseline VLANs 10, 20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back and compare semantic fields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Evidence: post-state + tests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Validate target identity, preserved fields, intended change and end-to-end checks; retain rollback artifact without secrets.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successful API response or tool exit is insufficient. Partial updates can erase fields if endpoint expects replacement.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Activity 11: REST/JSON/automation or Activity 12: integrated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ROUTING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 default cost compresses fast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Default reference 100 Mb/s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Cost = reference / bandwidth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Minimum cost 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Consistent updated reference is needed to distinguish high speeds.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Default reference 100 Mb/s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Announced v2.0: five-domain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7040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38160" y="214884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Network Infrastructure and Connectivity 25%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Switching and Network Access 25%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IP Routing 20%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Network Services and Security 20%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AI, and Network Operations and Management 10%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Effective 3 Feb 2027.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the data shows: Network Infrastructure and Connectivity 25%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EFFECTIVE 3 FEB 2027 · CURRENT EXAM STILL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Announced CCNA v2.0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149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1F6FEB"/>
                </a:solidFill>
                <a:latin typeface="Arial"/>
              </a:rPr>
              <a:t>Apply operational evidence to the newly announced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0">
                <a:solidFill>
                  <a:srgbClr val="5B6372"/>
                </a:solidFill>
                <a:latin typeface="Arial"/>
              </a:rPr>
              <a:t>OSPFv3, VRRP, AAA clients, secure transfers, expanded DNS diagnosis, storm/RA controls and agentic AI.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0">
                <a:solidFill>
                  <a:srgbClr val="5B6372"/>
                </a:solidFill>
                <a:latin typeface="Arial"/>
              </a:rPr>
              <a:t>Simulator/platform support varies; verify IOS XE syntax before execution.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DHCPv 4 IOS server fault isolation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IOS DHCP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Network, router, DNS and lease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Excluded addresses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Addresses withheld from allocation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Client VLAN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Origin subnet used for scope selection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excluded-address 10.10.10.1 10.10.10.20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dns-server 10.20.0.53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Pool subnet must match client/relay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 dhcp pool; show ip dhcp binding; show ip dhcp conflict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DHCPv 4 IOS server fault isolation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Pool selects subnet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Excluded range prevents collision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Lease allocates free address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Options guide client connectivity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excluded-address 10.10.10.1 10.10.10.20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dns-server 10.20.0.53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DHCPv 4 IOS server fault isolation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dhcp excluded-address 10.10.10.1 10.10.10.20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 dhcp pool USERS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network 10.10.10.0 255.255.255.0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default-router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dns-server 10.20.0.53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IOS DHCP pool · Pool selects subnet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Lease allocates free address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Options guide client connectivity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DHCPv 4 IOS server fault isolation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629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Pool subnet must match client/relay scope. Excluding all usable addresses produces exhaustion without any physical-link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 dhcp pool; show ip dhcp binding; show ip dhcp conflict. Compare free count and option correctness.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 dhcp excluded-address 10.10.10.1 10.10.10.20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Client VLAN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DHCPv 4 IOS server fault isolation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IOS DHCP pool -&gt; Client VLAN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 dhcp excluded-address 10.10.10.1 10.10.10.20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Options guide client connectivity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dns-server 10.20.0.53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 dhcp pool; show ip dhcp binding; show ip dhcp conflict. Compare free count and option correctness.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Pool subnet must match client/relay scope. Excluding all usable addresses produces exhaustion without any physical-link failure.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IPv6 interface activation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IPv6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IPv6 addresses and link-local transport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OSPFv3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32-bit router ID and IPv6 protocol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Area 0 neighbor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and area compatibility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unicast-routing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ipv6 ospf 10 area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Legacy ipv 6 ospf syntax varies by IOS XE release; newer deployments may use ospfv 3 process/address-family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ipv 6 ospf neighbor; show ipv 6 route ospf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IPv6 interface activation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IPv6 unicast routing enabled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Process has 32-bit router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Interface joins IPv6 OSPF area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Neighbor synchronizes IPv6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unicast-routing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ipv 6 ospf 10 area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OSPFv3 IPv6 interface activation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unicast-routing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router ospf 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router-id 1.1.1.1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ipv6 ospf 10 area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IPv6 interface · IPv6 unicast routing enabled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Interface joins IPv6 OSPF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Neighbor synchronizes IPv6 routes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OSPFv3 IPv6 interface activation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Legacy ipv 6 ospf syntax varies by IOS XE release; newer deployments may use ospfv 3 process/address-family. Verify platform syntax before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ipv 6 ospf neighbor; show ipv 6 route ospf. Expected adjacency is Full and remote2001:db8:20::/64 is installed.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unicast-routing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Area 0 neighbor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OSPFv3 IPv6 interface activation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IPv6 interface -&gt; Area 0 neighbor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unicast-routing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Neighbor synchronizes IPv6 routes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ipv 6 ospf 10 area 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ipv 6 ospf neighbor; show ipv 6 route ospf. Expected adjacency is Full and remote2001:db8:20::/64 is installed.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Legacy ipv 6 ospf syntax varies by IOS XE release; newer deployments may use ospfv 3 process/address-family. Verify platform syntax before execution.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neighbor transport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Link-local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On-link OSPFv3 source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OSPFv3 multicast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FF02::5 and FF02::6 receiver groups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IPv6 LSDB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Area-wide link-state and prefix information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next hop fe80::2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Neighbor uses link-local reachability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dotted-decimal router ID is an identifier, not IPv4 transport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link-local neighbor entry, area/timers/network type and Full state; separate transport failure from missing IPv6 advertisement.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neighbor transport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Hello leaves link-local address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FF02::5 reaches OSPF routers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DR/BDR uses FF02::6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IPv6 prefixes are carried in LSAs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next hop fe80::2 Gi0/0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Neighbor uses link-local reachability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neighbor transport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next hop fe80::2 Gi0/0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OSPF IP protocol 89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Router ID stays 32-bit dotted decimal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Neighbor uses link-local reachability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Link-local source · Hello leaves link-local address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DR/BDR uses FF02::6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IPv6 prefixes are carried in LSAs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neighbor transport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639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dotted-decimal router ID is an identifier, not IPv4 transport. ICMPv 6/ND and IPv6 link state must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Check link-local neighbor entry, area/timers/network type and Full state; separate transport failure from missing IPv6 advertisement.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next hop fe80::2 Gi0/0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IPv6 LSDB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OSPFv3 neighbor transport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Link-local source -&gt; IPv6 LSDB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IPv6 next hop fe80::2 Gi0/0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IPv6 prefixes are carried in LSAs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Neighbor uses link-local reachability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Check link-local neighbor entry, area/timers/network type and Full state; separate transport failure from missing IPv6 advertisement.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dotted-decimal router ID is an identifier, not IPv4 transport. ICMPv 6/ND and IPv6 link state must work.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HSRP operational status diagnosis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Active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virtual-gateway forwarder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Standby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Peer ready for ownership transfer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Tracked uplink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Upstream reachability influence on 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standby brief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Tracked decrement 20 -&gt; priority 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Higher configured priority alone does not guarantee current ownership without preemption/election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group, virtual IP, active/standby identities and effective priority before testing tracked uplink failure.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HSRP operational status diagnosis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Priority selects preferred active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Hello monitors peer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Tracking can reduce priority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Preempt policy controls takeover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standby brief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Tracked decrement 20 -&gt; priority 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HSRP operational status diagnosis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standby brief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Grp 10 Pri 110 State Active Active local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Standby 10.10.10.3 VIP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Tracked decrement 20 -&gt; priority 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 router · Priority selects preferred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Tracking can reduce 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Preempt policy controls takeover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HSRP operational status diagnosis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Higher configured priority alone does not guarantee current ownership without preemption/election context. A failed upstream link can leave LAN interface alive.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group, virtual IP, active/standby identities and effective priority before testing tracked uplink failure.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standby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Tracked uplink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HSRP operational status diagnosis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Active router -&gt; Tracked uplink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standby brief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Preempt policy controls takeover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Tracked decrement 20 -&gt; priority 90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group, virtual IP, active/standby identities and effective priority before testing tracked uplink failure.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Higher configured priority alone does not guarantee current ownership without preemption/election context. A failed upstream link can leave LAN interface alive.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VRRP master and backup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VRRP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virtual-address owner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Backup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Monitors master advertisements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Virtual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Unchanged host next-hop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vrrp brief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VRRPv 2 multicast 224.0.0.18 protocol 112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VRRP terminology is master/backup, unlike HSRP active/standby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Confirm same group/VIP on peers and one master; compare virtual MAC0000.5e00.010a for group 10 in VRRPv 2.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VRRP master and backup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Master advertises ownership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Backup tracks advertisement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Master failure promotes backup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Clients keep virtual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vrrp brief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VRRPv 2 multicast 224.0.0.18 protocol 112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VRRP master and backup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show vrrp brief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Group 10 Virtual IP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R1 priority 110 MASTER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VRRPv 2 multicast 224.0.0.18 protocol 112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VRRP master · Master advertises ownership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Master failure promotes backup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Clients keep virtual 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VRRP master and backup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649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VRRP terminology is master/backup, unlike HSRP active/standby. Owner/preemption behavior can affect which router currently forwards.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Confirm same group/VIP on peers and one master; compare virtual MAC0000.5e00.010a for group 10 in VRRPv 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vrrp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Virtual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VRRP master and backup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VRRP master -&gt; Virtual gateway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vrrp brief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Clients keep virtual IP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VRRPv 2 multicast 224.0.0.18 protocol 112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Confirm same group/VIP on peers and one master; compare virtual MAC0000.5e00.010a for group 10 in VRRPv 2.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VRRP terminology is master/backup, unlike HSRP active/standby. Owner/preemption behavior can affect which router currently forwards.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TACACS+ IOS AAA client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VTY SSH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Remote SSH management initiator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IOS AAA method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Selects server group and fallback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TACACS+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Central device identity/command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 new-model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 authentication login default group tacacs+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Syntax and authorization requirements vary by software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server TCP 49 reachability, accepted identity and tested fallback under authorized maintenance; preserve console access.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TACACS+ IOS AAA client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VTY selects method list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contacts server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authenticates 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Authorization/accounting policies apply separately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 new-model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aaa authentication login default group tacacs+ local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TACACS+ IOS AAA client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aaa new-model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tacacs server TRAINING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address ipv4 192.0.2.70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key &lt;training-only-secret&gt;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aaa authentication login default group tacacs+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VTY SSH client · VTY selects method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Server authenticates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Authorization/accounting policies apply separately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TACACS+ IOS AAA client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Syntax and authorization requirements vary by software. Local fallback usually applies when server errors/unreachable, not merely when credentials are rejected.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server TCP 49 reachability, accepted identity and tested fallback under authorized maintenance; preserve console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 new-model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TACACS+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TACACS+ IOS AAA client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VTY SSH client -&gt; TACACS+ server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aaa new-model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Authorization/accounting policies apply separately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aaa authentication login default group tacacs+ local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Verify server TCP 49 reachability, accepted identity and tested fallback under authorized maintenance; preserve console access.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Syntax and authorization requirements vary by software. Local fallback usually applies when server errors/unreachable, not merely when credentials are rejected.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IOS management client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IOS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Sends scoped management AAA requests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RADIUS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Authentication/accounting decision 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Local fallback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Maintains controlled emergency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server TRAINING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 authentication login default group radius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confuse management AAA client configuration with a WLAN supplicant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method-list binding and RADIUS server statistics; test acceptance, rejection and unreachable-server behavior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IOS management client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sends access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Server returns accept/reject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Device enforces login decision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Accounting can record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server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aaa authentication login default group radius local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IOS management client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radius server TRAINING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address ipv4 192.0.2.71 auth-port 1812 acct-port 1813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key &lt;training-only-secret&gt;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aaa authentication login default group radius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IOS device · Device sends access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Device enforces login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Accounting can record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RADIUS IOS management client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659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confuse management AAA client configuration with a WLAN supplicant. Shared secret is sensitive and must stay out of public course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method-list binding and RADIUS server statistics; test acceptance, rejection and unreachable-server behavior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radius server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Local fallback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RADIUS IOS management client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IOS device -&gt; Local fallback DB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radius server TRAINING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Accounting can record session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aaa authentication login default group radius local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 method-list binding and RADIUS server statistics; test acceptance, rejection and unreachable-server behavior separately.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confuse management AAA client configuration with a WLAN supplicant. Shared secret is sensitive and must stay out of public course files.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SCP and SFTP secure file evidence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Device file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Running/startup/image storage scope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SSH 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Encrypted authenticated TCP 22 channel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Transfer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Authorized source/destination file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SCP over SSH TCP 22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 256 source == sha 256 destination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SCP and SFTP are distinct protocols even though both use SSH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source/destination filename, size, hash and device image compatibility; restrict privileges and protect configs containing secrets.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SCP and SFTP secure file evidence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SSH verifies/authenticates peer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SCP/SFTP moves bytes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Destination stores 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Integrity/readback validates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SCP over SSH TCP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sha 256 source == sha 256 destination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SCP and SFTP secure file evidence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SCP over SSH TCP 22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SFTP uses SSH file-transfer subsystem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copy running-config scp: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sha 256 source == sha 256 destination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Device file system · SSH verifies/authenticates peer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Destination stores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Integrity/readback validates artifact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SCP and SFTP secure file evidence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SCP and SFTP are distinct protocols even though both use SSH. Server/subsystem support varies; filename transfer success does not prove correct content.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source/destination filename, size, hash and device image compatibility; restrict privileges and protect configs containing secrets.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SCP over SSH TCP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Transfer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SCP and SFTP secure file evidence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Device file system -&gt; Transfer server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SCP over SSH TCP 22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Integrity/readback validates artifact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sha 256 source == sha 256 destination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source/destination filename, size, hash and device image compatibility; restrict privileges and protect configs containing secrets.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SCP and SFTP are distinct protocols even though both use SSH. Server/subsystem support varies; filename transfer success does not prove correct content.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mail and authority diagnosis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MX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Mail exchanger preference and hostname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NS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Published authoritative zone server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PTR reverse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Reverse address-to-name namespace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example.test MX 10 mail.example.test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25.2.0.192.in-addr.arpa PTRmail.example.test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MX target must resolve appropriately; reverse DNS lives in a distinct zone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 MX, target A/AAAA, NS and PTR; distinguish NXDOMAIN, SERVFAIL, timeout and a valid but unintended answer.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mail and authority diagnosis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MX points mail domain to host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A/AAAA resolves mail host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NS points zone to authority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PTR maps reverse address to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example.test MX 10 mail.example.test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25.2.0.192.in-addr.arpa PTRmail.example.test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DNS mail and authority diagnosis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example.test MX 10 mail.example.test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mail.example.test A192.0.2.25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example.test NSns 1.example.test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25.2.0.192.in-addr.arpa PTRmail.example.test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MX record · MX points mail domain to host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NS points zone to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PTR maps reverse address to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DNS mail and authority diagnosis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669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MX target must resolve appropriately; reverse DNS lives in a distinct zone. CNAME aliases, forward and reverse answers are separate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Query MX, target A/AAAA, NS and PTR; distinguish NXDOMAIN, SERVFAIL, timeout and a valid but unintended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example.test MX 10 mail.example.test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PTR reverse 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DNS mail and authority diagnosis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MX record -&gt; PTR reverse zone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example.test MX 10 mail.example.test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PTR maps reverse address to name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25.2.0.192.in-addr.arpa PTRmail.example.test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Query MX, target A/AAAA, NS and PTR; distinguish NXDOMAIN, SERVFAIL, timeout and a valid but unintended answer.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An MX target must resolve appropriately; reverse DNS lives in a distinct zone. CNAME aliases, forward and reverse answers are separate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Broadcast storm-control thresholds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Ingress access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Traffic category and measurement point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Broadcast traffic 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Rising/falling utilization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Drop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Suppresses excess selected traffic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Measurement specifics platform-dependent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set a threshold without baseline traffic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storm-control; compare counter deltas and legitimate protocol success before/after a controlled traffic spike.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Broadcast storm-control thresholds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Meter measures broadcast utilization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Traffic exceeds rising threshold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Excess broadcast is suppressed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Falling threshold permits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Measurement specifics platform-dependent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Broadcast storm-control thresholds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storm-control broadcast level 5.00 3.00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Rising 5%; falling 3%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Measurement specifics platform-dependent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Ingress access port · Meter measures broadcast utilization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Excess broadcast is suppressed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Falling threshold permits recovery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Broadcast storm-control thresholds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set a threshold without baseline traffic. Legitimate ARP/DHCP can be disrupted; multicast/unicast controls are distinct categories.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show storm-control; compare counter deltas and legitimate protocol success before/after a controlled traffic spike.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interface Gi1/0/10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Drop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Broadcast storm-control thresholds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Ingress access port -&gt; Drop 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interface Gi1/0/10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Falling threshold permits recovery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Measurement specifics platform-dependent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show storm-control; compare counter deltas and legitimate protocol success before/after a controlled traffic spike.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set a threshold without baseline traffic. Legitimate ARP/DHCP can be disrupted; multicast/unicast controls are distinct categories.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RA guard trust boundary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Endpoint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Non-router host attachment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Router advertisement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Default-router/prefix control message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Authorized router uplink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Permitted router advertisement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ipv6 nd raguard policy HOST_POLICY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 ipv6 nd raguard attach-policy HOST_POLICY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Platform support and policy syntax vary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received RA source, policy binding and IPv6 default router; verify authorized RA accepted and endpoint-originated RA rejected.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RA guard trust boundary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Host expects RA from router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Endpoint sends rogue 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RA guard policy blocks unauthorized advertisement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Trusted router remains allowed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nd raguard policy HOST_POLICY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 ipv 6 nd raguard attach-policy HOST_POLICY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RA guard trust boundary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ipv6 nd raguard policy HOST_POLICY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device-role host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interface Gi1/0/10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ipv6 nd raguard attach-policy HOST_POLICY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Endpoint port · Host expects RA from 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RA guard policy blocks unauthorized advertisement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Trusted router remains allowed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IPv6 RA guard trust boundary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679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Platform support and policy syntax vary. RA guard must not block authorized router-facing advertisements or break legitimate IPv6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received RA source, policy binding and IPv6 default router; verify authorized RA accepted and endpoint-originated RA rejected.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ipv 6 nd raguard policy HOST_POLICY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Authorized router uplink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IPv6 RA guard trust boundary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Endpoint port -&gt; Authorized router uplink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ipv 6 nd raguard policy HOST_POLICY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Trusted router remains allowed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 ipv 6 nd raguard attach-policy HOST_POLICY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received RA source, policy binding and IPv6 default router; verify authorized RA accepted and endpoint-originated RA rejected.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Platform support and policy syntax vary. RA guard must not block authorized router-facing advertisements or break legitimate IPv6 access.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Extended ping and packet-capture inference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Selected source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Explicit test-origin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ICMP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Forward path and ICMP filtering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Reply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Destination route back to selected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Extended ping source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Potential return route/policy 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router ping from WAN source may pass while LAN-sourced traffic fails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Compare default-source and explicit-source results; capture at boundaries to locate where request or response disappears.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Extended ping and packet-capture inference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Operator chooses source/interface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Echo traverses routed path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Target selects return route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Reply result tests both directions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Extended ping source 10.10.10.1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Potential return route/policy fault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Extended ping and packet-capture inference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Extended ping source 10.10.10.1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Target 10.20.20.20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Capture request arrives; no reply seen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Potential return route/policy 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Selected source address · Operator chooses source/interface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Target selects return 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Reply result tests both directions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Extended ping and packet-capture inference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router ping from WAN source may pass while LAN-sourced traffic fails. ICMP filtering can make traceroute incomplete despite forwarding.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default-source and explicit-source results; capture at boundaries to locate where request or response disappears.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Extended ping source 10.10.10.1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Reply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Extended ping and packet-capture inference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Selected source address -&gt; Reply route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Extended ping source 10.10.10.1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Reply result tests both directions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Potential return route/policy fault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Compare default-source and explicit-source results; capture at boundaries to locate where request or response disappears.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router ping from WAN source may pass while LAN-sourced traffic fails. ICMP filtering can make traceroute incomplete despite forwarding.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AI operational boundary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Telemetry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Sanitized evidence and known topology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Planning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Plans diagnostics and calls bounded tools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Human change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Authorizes reviewed verified write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Allowed tools: show_route, show_interface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Output: hypothesis, evidence, confidence, next_test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autonomous plan can amplify a mistaken diagnosis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tool-call audit, referenced evidence and preserved security policy; reject unsupported recommendation even if fluent/confident.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AI operational boundary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Agent collects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Plans candidate diagnosis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Calls scoped read-only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Human authorizes verified write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Allowed tools: show_route, show_interface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Output: hypothesis, evidence, confidence, next_test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AI operational boundary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Allowed tools: show_route, show_interface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Forbidden autonomous write: remove_acl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Output: hypothesis, evidence, confidence, next_test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Telemetry input · Agent collects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Calls scoped read-only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Human authorizes verified write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Agentic AI operational boundary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689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autonomous plan can amplify a mistaken diagnosis. Tool permissions, data classification and write gates must be explicit.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Check tool-call audit, referenced evidence and preserved security policy; reject unsupported recommendation even if fluent/confident.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Allowed tools: show_route, show_interface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Human change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Agentic AI operational boundary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Telemetry input -&gt; Human change gate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Allowed tools: show_route, show_interface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Human authorizes verified write plan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Output: hypothesis, evidence, confidence, next_test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Check tool-call audit, referenced evidence and preserved security policy; reject unsupported recommendation even if fluent/confident.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An autonomous plan can amplify a mistaken diagnosis. Tool permissions, data classification and write gates must be explicit.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AI prompt selection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Data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Secret/PII restrictions on supplied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Response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Required typed response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 instruction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Demand traceable evidence and uncertainty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Role: CCNA troubleshooting reviewer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 not execute changes; cite supplied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broad prompt to fix network with all credentials invites unsafe disclosure and uncontrolled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prompt with classification, exact output, read-only constraint and uncertainty rule; compare proposed diagnosis to supplied counters.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AI prompt selection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Remove secrets/PII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Name troubleshooting role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Provide measured logs/topology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Require bounded structured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Role: CCNA troubleshooting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 not execute changes; cite supplied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AI prompt selection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Role: CCNA troubleshooting reviewer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Data: synthetic/anonymized interface counters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Return JSON {hypothesis, evidence, next_test}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Do not execute changes; cite supplied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Data classification · Remove secrets/PII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Provide measured logs/topology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Require bounded structured recommendations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AI prompt selection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694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broad prompt to fix network with all credentials invites unsafe disclosure and uncontrolled change. Persona does not substitute for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prompt with classification, exact output, read-only constraint and uncertainty rule; compare proposed diagnosis to supplied counters.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Role: CCNA troubleshooting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Evidence instruction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Network AI prompt selection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Data classification -&gt; Evidence instruction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Role: CCNA troubleshooting reviewer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Require bounded structured recommendations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Do not execute changes; cite supplied evidence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Select prompt with classification, exact output, read-only constraint and uncertainty rule; compare proposed diagnosis to supplied counters.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 broad prompt to fix network with all credentials invites unsafe disclosure and uncontrolled change. Persona does not substitute for evidence.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Ansible execute and verify commands ·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21992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Inventory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Approved target group and credentials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98264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221992"/>
            <a:ext cx="34015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ios_command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Read-only network command execution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9832" y="31089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83296" y="2221992"/>
            <a:ext cx="3401568" cy="178308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221992"/>
            <a:ext cx="34015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Result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99232"/>
            <a:ext cx="3127248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Stored output and exact acceptance checks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142232"/>
            <a:ext cx="6492240" cy="11612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79392"/>
            <a:ext cx="61264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cisco.ios.ios_command: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Expected neighbor state: 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160520"/>
            <a:ext cx="402336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Boundary to 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Read-only command execution differs from configuration 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target router ID, neighbor identity, state and interface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execute and verify commands · runtime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251460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Task connects to approved routers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0963" y="3282696"/>
            <a:ext cx="269749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1071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5146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Read-only show command executes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3844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0819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7064" y="25146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Registered output stores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5924" y="3282696"/>
            <a:ext cx="269748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05672" y="2359152"/>
            <a:ext cx="2427732" cy="2084831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24544" y="2514600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54203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090672"/>
            <a:ext cx="2171700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Assertion evaluates 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389120"/>
            <a:ext cx="521208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State/input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cisco.ios.ios_command: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166360" cy="10424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Observable consequence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Expected neighbor state: FULL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each transition against the named fields; do not infer a working end-to-end service from a single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ANNOTATED TECHNICAL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execute and verify commands ·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6766560" cy="3364992"/>
          </a:xfrm>
          <a:prstGeom prst="rect">
            <a:avLst/>
          </a:prstGeom>
          <a:solidFill>
            <a:srgbClr val="F5F8FC"/>
          </a:solidFill>
          <a:ln w="165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6373368" cy="2935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cisco.ios.ios_command: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 commands: [show ip ospf neighbor]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register: ospf_output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Expected neighbor state: FULL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029968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12264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 /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386584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Inventory group · Task connects to approved routers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3163824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46120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/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20440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Registered output stores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4112" y="4297680"/>
            <a:ext cx="3739896" cy="102412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79976"/>
            <a:ext cx="349300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READBACK /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654296"/>
            <a:ext cx="3493008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Assertion evaluates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 the exhibit; full command sequence, fixtures and execution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execute and verify commands · fault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699</a:t>
            </a:r>
          </a:p>
        </p:txBody>
      </p:sp>
      <p:sp>
        <p:nvSpPr>
          <p:cNvPr id="10" name="Diamond 9"/>
          <p:cNvSpPr/>
          <p:nvPr/>
        </p:nvSpPr>
        <p:spPr>
          <a:xfrm>
            <a:off x="4370832" y="2075688"/>
            <a:ext cx="3337560" cy="1344168"/>
          </a:xfrm>
          <a:prstGeom prst="diamond">
            <a:avLst/>
          </a:prstGeom>
          <a:solidFill>
            <a:srgbClr val="F5F8FC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2199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Does the observed state satisfy the contract?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62072" y="2752344"/>
            <a:ext cx="1508760" cy="95097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2752344"/>
            <a:ext cx="1728216" cy="950976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3232" y="3694176"/>
            <a:ext cx="516636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94176"/>
            <a:ext cx="51663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77056"/>
            <a:ext cx="4892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Mismatch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71416"/>
            <a:ext cx="48920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Read-only command execution differs from configuration convergence. Parse output carefully; substring matches alone can accept wrong neighbors.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94176"/>
            <a:ext cx="5303520" cy="179222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303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77056"/>
            <a:ext cx="50292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Conforming /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71416"/>
            <a:ext cx="50292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Validate target router ID, neighbor identity, state and interface. Retain command output/time and avoid embedding inventory secrets.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249424"/>
            <a:ext cx="2651760" cy="9235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cisco.ios.ios_command: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31136"/>
            <a:ext cx="2834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Inspect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Result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 a diagnosis from measured evidence. The same visible symptom can arise at different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ANNOUNCED V 2.0 TRANSITION · VERIFICATION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Ansible execute and verify commands ·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011680"/>
          <a:ext cx="107899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Evidence dimension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Expected interpretation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Control / exact field</a:t>
                      </a:r>
                    </a:p>
                  </a:txBody>
                  <a:tcPr marL="109728" marR="91440" marT="73152" marB="73152">
                    <a:solidFill>
                      <a:srgbClr val="1F6F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Identity / scope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Inventory group -&gt; Result register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cisco.ios.ios_command: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Mechanism / state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Assertion evaluates acceptance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Expected neighbor state: FULL</a:t>
                      </a:r>
                    </a:p>
                  </a:txBody>
                  <a:tcPr marL="109728" marR="91440" marT="73152" marB="73152"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B26"/>
                          </a:solidFill>
                          <a:latin typeface="Arial"/>
                        </a:rPr>
                        <a:t>Result / boundary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Validate target router ID, neighbor identity, state and interface. Retain command output/time and avoid embedding inventory secrets.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B26"/>
                          </a:solidFill>
                          <a:latin typeface="Arial"/>
                        </a:rPr>
                        <a:t>Read-only command execution differs from configuration convergence. Parse output carefully; substring matches alone can accept wrong neighbors.</a:t>
                      </a:r>
                    </a:p>
                  </a:txBody>
                  <a:tcPr marL="109728" marR="91440" marT="73152" marB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8" y="5321808"/>
            <a:ext cx="10424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Bridge: v2.0 transition fixtures in Activities 6-12; simulator support varies by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 target identity, observed values and test time; a tool exit code or single ping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Addressing and endpoint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Allocate non-overlapping VLSM subnets and explain remote packet versus next-hop frame addressing.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Physical and VLAN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interface counter deltas and endpoint VLAN membership to separate physical faults from segmentation errors.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100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Trunks and inter-VLAN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Diagnose a missing allowed VLAN and native VLAN mismatch, then verify SVI gateway mapping.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100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EtherChannel and STP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Check LACP negotiation and spanning-tree redundancy without confusing blocked paths with failed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Wireless WLAN and policy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Connect SSID, authentication, VLAN and client addressing while inspecting RF channel and WLC data-path choices.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100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Static routing and IPv6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Apply longest-prefix match, a floating route and interface-scoped IPv6 link-local next hops.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OSPF and gateway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Diagnose OSPF adjacency, path costs and a virtual gateway; distinguish current v1.1 FHRP explanation from refresh practice.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100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NAT DHCP DNS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Correlate translated transport tuples, DHCP scope options, DNS records and synchronized logging.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ACL and secure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Evaluate ordered ACL rules and secure VTY access, including AAA client/server roles and safe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Layer 2 and wireless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Map trusted infrastructure ports and untrusted edge ports to DHCP snooping, DAI, port security and wireless authentication.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11 · REST JSON and configuration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Validate REST status and JSON types, produce an idempotent plan and select a bounded agentic AI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PRACTICE BRIDGE · 70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12 · Integrated incident and change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347472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Scenario /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time-correlated service evidence to isolate a trunk fault and verify a narrow change with regression tests and rollback.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7472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Technical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34640"/>
            <a:ext cx="320040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Corrected JSON/CSV case, checker output, config specimen, diagnosis and acceptance checklist.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429000" cy="321868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57400"/>
            <a:ext cx="3429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24028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834640"/>
            <a:ext cx="3154680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Fixture checker validates synthetic evidence; trainer checks simulator/hardware results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instructions, exact commands and checklists: Learner Guide + independent activity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LIVE PRACTICE PLATFORM · CURRENT V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exam: CCNA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777240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Six practice exams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100 questions each ·120 minutes each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Use domain-level results to target revision.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102412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https://exams.tertiaryinfotech.com/practice-exams/cisco/cisco-ccna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19472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Platform threshold 82% is a practice-site rule; it is not an official Cisco passing score.</a:t>
            </a:r>
          </a:p>
        </p:txBody>
      </p:sp>
      <p:pic>
        <p:nvPicPr>
          <p:cNvPr id="13" name="Picture 12" descr="practice-ccna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029968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 hour · open book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Knowledge evidence K1-K6.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 hour · open book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Implementation and verification A1-A6.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assigned candidate papers and trainer-issued LMS submission links.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ASSESSMENT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95728"/>
            <a:ext cx="1920240" cy="2386584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192024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78608"/>
            <a:ext cx="1645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1645920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Training entry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520440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98648" y="2395728"/>
            <a:ext cx="1920240" cy="238658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2395728"/>
            <a:ext cx="19202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578608"/>
            <a:ext cx="1645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172968"/>
            <a:ext cx="1645920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entry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18888" y="3520440"/>
            <a:ext cx="237743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65776" y="2395728"/>
            <a:ext cx="1920240" cy="2386584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2395728"/>
            <a:ext cx="19202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578608"/>
            <a:ext cx="1645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172968"/>
            <a:ext cx="1645920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Approved duration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86016" y="3520440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232904" y="2395728"/>
            <a:ext cx="1920240" cy="2386584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2904" y="2395728"/>
            <a:ext cx="192024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2578608"/>
            <a:ext cx="1645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LMS 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172968"/>
            <a:ext cx="1645920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Upload answers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53144" y="3520440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00032" y="2395728"/>
            <a:ext cx="1920240" cy="2386584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00032" y="2395728"/>
            <a:ext cx="19202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37192" y="2578608"/>
            <a:ext cx="1645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Summary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7192" y="3172968"/>
            <a:ext cx="1645920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and 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5623560"/>
            <a:ext cx="10789920" cy="612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623560"/>
            <a:ext cx="73152" cy="612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678424"/>
            <a:ext cx="103784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Trainer confirms attendance, assessment evidence, submission and record completion.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34564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Digital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required attendance using the provider-issued attendance link or process.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34564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the correct course title and TGS code; record the assessment session.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7" y="2029968"/>
            <a:ext cx="3456432" cy="3200400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7" y="2029968"/>
            <a:ext cx="345643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18211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TRAQOM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807208"/>
            <a:ext cx="3182112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Complete the separate training-quality feedback survey using the provider-issued TRAQOM link.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CCNA · CONTINUE WITH VERIFIED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373368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55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CCNA · TGS-2023037854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455664"/>
            <a:ext cx="548640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37376"/>
            <a:ext cx="960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800" b="1">
                <a:solidFill>
                  <a:srgbClr val="1F6FEB"/>
                </a:solidFill>
                <a:latin typeface="Arial"/>
              </a:rPr>
              <a:t>Observe. Explain. Configure. Verify.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996696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30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